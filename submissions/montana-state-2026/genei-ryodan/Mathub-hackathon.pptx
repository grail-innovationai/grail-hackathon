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b73f82d-6e4a-64c7-a478-eac30c71500b}">
          <p14:sldIdLst>
            <p14:sldId id="256"/>
            <p14:sldId id="257"/>
          </p14:sldIdLst>
        </p14:section>
        <p14:section name="The study hub" id="{2e6e0661-719c-db50-0ba2-44503ecf25fa}">
          <p14:sldIdLst>
            <p14:sldId id="258"/>
            <p14:sldId id="259"/>
            <p14:sldId id="260"/>
          </p14:sldIdLst>
        </p14:section>
        <p14:section name="Bo and languages" id="{1b4e08f2-1b2f-7293-a229-21616683d242}">
          <p14:sldIdLst>
            <p14:sldId id="261"/>
            <p14:sldId id="262"/>
            <p14:sldId id="263"/>
            <p14:sldId id="264"/>
            <p14:sldId id="265"/>
          </p14:sldIdLst>
        </p14:section>
        <p14:section name="Building it" id="{6d7960a2-a1f0-40ef-5477-45522e0b62ed}">
          <p14:sldIdLst>
            <p14:sldId id="266"/>
            <p14:sldId id="267"/>
            <p14:sldId id="268"/>
          </p14:sldIdLst>
        </p14:section>
        <p14:section name="Close" id="{6d44457e-c458-3e6a-4b21-f100ec64d04b}">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Nikoloz, a student at Montana State. This is Mathub: a study hub for every class I take, built from each class’s real syllabus, with an AI tutor called Bo who can see what you’re working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student knows this. The information you need is spread across six places, help isn’t there when you study, and you walk into the exam not knowing if you’re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Mathub reads each class’s syllabus: topics, exam dates, grading. Open a class and the dashboard says what’s next. Here it’s three days to Calculus Exam 2, with a plan for today and for every day until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metaphor is a mountain: the topics are the trail and the next exam is the summit. Students always know where they are and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never runs out: questions are generated, so there is always another one, with the worked solution. Flashcards use spaced repetition. Today pulls it all into a ten-minute plan, and the game layer keeps students coming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 is the heart of Mathub. He’s a bobcat, MSU’s mascot, and he’s an AI tutor built on Claude. What makes him different from a general chatbot is context: he knows the syllabus, the exam dates, your weakest topics and the questions you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this week: Bo floats in the corner of every page. Tap him and he already knows what you’re looking at: the ten questions on this quiz, which ones you got wrong, the notes you’re reading. One tap on Q3 and he walks you through Q3, with a hint before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tutors draw. Bo writes numbered steps on a whiteboard and draws: here a tangent line with a slider you can drag, and a parabola with the negative part shaded. Then he puts a question on the board for you to answer, so you check your understanding instead of just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use Bo. The chat, with photos. Live voice calls, real conversation where you can interrupt him. And for any class Mathub doesn’t have yet, Bo reads the syllabus and writes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International students can use Mathub in Spanish or Russian, with French, Italian, Portuguese and German on the way. The interface switches and Bo answers in their language, while the class material stays in English so it matches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judges: it’s a plain JavaScript single-page app with a PHP and SQLite backend, so it runs on cheap shared hosting. Claude powers the tutor; OpenAI’s realtime model powers voice. Every release runs over a thousand automated browser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studying is free, so every student gets value. We charge for the AI, which is where our costs are: Pro at fifteen dollars a month writes classes from a syllabus, and Max at fifty adds Bo as a personal tutor, which is a fraction of what an hour of private tutoring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finish the four remaining languages, grow the class list from student requests, bring instructors in through Mathub Faculty, which is already built, and ship the mobile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Mathub is live at mathub.space. Thank you, and I’m happy to show a live demo: open a quiz, tap Bo, tap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H 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1554480"/>
            <a:ext cx="7680960" cy="365760"/>
          </a:xfrm>
          <a:prstGeom prst="rect">
            <a:avLst/>
          </a:prstGeom>
          <a:noFill/>
          <a:ln/>
        </p:spPr>
        <p:txBody>
          <a:bodyPr wrap="square" rtlCol="0"/>
          <a:lstStyle>
            <a:lvl1pPr algn="l" indent="0" marL="0">
              <a:buNone/>
              <a:defRPr lang="en-US" sz="1400" b="1" spc="300" kern="0" dirty="0">
                <a:solidFill>
                  <a:schemeClr val="accent6"/>
                </a:solidFill>
              </a:defRPr>
            </a:lvl1pPr>
          </a:lstStyle>
          <a:p>
            <a:pPr algn="l" indent="0" marL="0">
              <a:buNone/>
            </a:pPr>
            <a:r>
              <a:rPr lang="en-US" sz="1400" b="1" spc="300" kern="0" dirty="0">
                <a:solidFill>
                  <a:schemeClr val="accent6"/>
                </a:solidFill>
              </a:rPr>
              <a:t>Eyebrow</a:t>
            </a:r>
            <a:endParaRPr lang="en-US" sz="1400" dirty="0"/>
          </a:p>
        </p:txBody>
      </p:sp>
      <p:sp>
        <p:nvSpPr>
          <p:cNvPr id="3" name="Text 0"/>
          <p:cNvSpPr/>
          <p:nvPr>
            <p:ph idx="101" type="title" hasCustomPrompt="1"/>
          </p:nvPr>
        </p:nvSpPr>
        <p:spPr>
          <a:xfrm>
            <a:off x="813816" y="1965960"/>
            <a:ext cx="10564063" cy="1234440"/>
          </a:xfrm>
          <a:prstGeom prst="rect">
            <a:avLst/>
          </a:prstGeom>
          <a:noFill/>
          <a:ln/>
        </p:spPr>
        <p:txBody>
          <a:bodyPr wrap="square" rtlCol="0"/>
          <a:lstStyle>
            <a:lvl1pPr algn="l" indent="0" marL="0">
              <a:buNone/>
              <a:defRPr lang="en-US" sz="8000" b="1" dirty="0">
                <a:solidFill>
                  <a:schemeClr val="bg2"/>
                </a:solidFill>
              </a:defRPr>
            </a:lvl1pPr>
          </a:lstStyle>
          <a:p>
            <a:pPr algn="l" indent="0" marL="0">
              <a:buNone/>
            </a:pPr>
            <a:r>
              <a:rPr lang="en-US" sz="8000" b="1" dirty="0">
                <a:solidFill>
                  <a:schemeClr val="bg2"/>
                </a:solidFill>
              </a:rPr>
              <a:t>Title</a:t>
            </a:r>
            <a:endParaRPr lang="en-US" sz="8000" dirty="0"/>
          </a:p>
        </p:txBody>
      </p:sp>
      <p:sp>
        <p:nvSpPr>
          <p:cNvPr id="4" name="Text 0"/>
          <p:cNvSpPr/>
          <p:nvPr>
            <p:ph idx="102" type="body" hasCustomPrompt="1"/>
          </p:nvPr>
        </p:nvSpPr>
        <p:spPr>
          <a:xfrm>
            <a:off x="813816" y="3429000"/>
            <a:ext cx="7680960" cy="1234440"/>
          </a:xfrm>
          <a:prstGeom prst="rect">
            <a:avLst/>
          </a:prstGeom>
          <a:noFill/>
          <a:ln/>
        </p:spPr>
        <p:txBody>
          <a:bodyPr wrap="square" rtlCol="0"/>
          <a:lstStyle>
            <a:lvl1pPr algn="l" indent="0" marL="0">
              <a:lnSpc>
                <a:spcPct val="110000"/>
              </a:lnSpc>
              <a:buNone/>
              <a:defRPr lang="en-US" sz="2400" dirty="0">
                <a:solidFill>
                  <a:schemeClr val="accent5"/>
                </a:solidFill>
              </a:defRPr>
            </a:lvl1pPr>
          </a:lstStyle>
          <a:p>
            <a:pPr algn="l" indent="0" marL="0">
              <a:lnSpc>
                <a:spcPct val="110000"/>
              </a:lnSpc>
              <a:buNone/>
            </a:pPr>
            <a:r>
              <a:rPr lang="en-US" sz="2400" dirty="0">
                <a:solidFill>
                  <a:schemeClr val="accent5"/>
                </a:solidFill>
              </a:rPr>
              <a:t>Subtitle</a:t>
            </a:r>
            <a:endParaRPr lang="en-US" sz="2400" dirty="0"/>
          </a:p>
        </p:txBody>
      </p:sp>
      <p:sp>
        <p:nvSpPr>
          <p:cNvPr id="5" name="Text 0"/>
          <p:cNvSpPr/>
          <p:nvPr>
            <p:ph idx="103" type="body" hasCustomPrompt="1"/>
          </p:nvPr>
        </p:nvSpPr>
        <p:spPr>
          <a:xfrm>
            <a:off x="813816" y="4846320"/>
            <a:ext cx="7680960" cy="365760"/>
          </a:xfrm>
          <a:prstGeom prst="rect">
            <a:avLst/>
          </a:prstGeom>
          <a:noFill/>
          <a:ln/>
        </p:spPr>
        <p:txBody>
          <a:bodyPr wrap="square" rtlCol="0"/>
          <a:lstStyle>
            <a:lvl1pPr algn="l" indent="0" marL="0">
              <a:buNone/>
              <a:defRPr lang="en-US" sz="1400" dirty="0">
                <a:solidFill>
                  <a:schemeClr val="accent5"/>
                </a:solidFill>
              </a:defRPr>
            </a:lvl1pPr>
          </a:lstStyle>
          <a:p>
            <a:pPr algn="l" indent="0" marL="0">
              <a:buNone/>
            </a:pPr>
            <a:r>
              <a:rPr lang="en-US" sz="1400" dirty="0">
                <a:solidFill>
                  <a:schemeClr val="accent5"/>
                </a:solidFill>
              </a:rPr>
              <a:t>Byline</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H Statement Amber">
    <p:bg>
      <p:bgPr>
        <a:solidFill>
          <a:schemeClr val="accent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1691640"/>
            <a:ext cx="6766560" cy="365760"/>
          </a:xfrm>
          <a:prstGeom prst="rect">
            <a:avLst/>
          </a:prstGeom>
          <a:noFill/>
          <a:ln/>
        </p:spPr>
        <p:txBody>
          <a:bodyPr wrap="square" rtlCol="0"/>
          <a:lstStyle>
            <a:lvl1pPr algn="l" indent="0" marL="0">
              <a:buNone/>
              <a:defRPr lang="en-US" sz="1400" b="1" spc="300" kern="0" dirty="0">
                <a:solidFill>
                  <a:schemeClr val="tx1"/>
                </a:solidFill>
              </a:defRPr>
            </a:lvl1pPr>
          </a:lstStyle>
          <a:p>
            <a:pPr algn="l" indent="0" marL="0">
              <a:buNone/>
            </a:pPr>
            <a:r>
              <a:rPr lang="en-US" sz="1400" b="1" spc="300" kern="0" dirty="0">
                <a:solidFill>
                  <a:schemeClr val="tx1"/>
                </a:solidFill>
              </a:rPr>
              <a:t>Eyebrow</a:t>
            </a:r>
            <a:endParaRPr lang="en-US" sz="1400" dirty="0"/>
          </a:p>
        </p:txBody>
      </p:sp>
      <p:sp>
        <p:nvSpPr>
          <p:cNvPr id="3" name="Text 0"/>
          <p:cNvSpPr/>
          <p:nvPr>
            <p:ph idx="101" type="title" hasCustomPrompt="1"/>
          </p:nvPr>
        </p:nvSpPr>
        <p:spPr>
          <a:xfrm>
            <a:off x="813816" y="2103120"/>
            <a:ext cx="6766560" cy="1234440"/>
          </a:xfrm>
          <a:prstGeom prst="rect">
            <a:avLst/>
          </a:prstGeom>
          <a:noFill/>
          <a:ln/>
        </p:spPr>
        <p:txBody>
          <a:bodyPr wrap="square" rtlCol="0"/>
          <a:lstStyle>
            <a:lvl1pPr algn="l" indent="0" marL="0">
              <a:buNone/>
              <a:defRPr lang="en-US" sz="8000" b="1" dirty="0">
                <a:solidFill>
                  <a:schemeClr val="tx1"/>
                </a:solidFill>
              </a:defRPr>
            </a:lvl1pPr>
          </a:lstStyle>
          <a:p>
            <a:pPr algn="l" indent="0" marL="0">
              <a:buNone/>
            </a:pPr>
            <a:r>
              <a:rPr lang="en-US" sz="8000" b="1" dirty="0">
                <a:solidFill>
                  <a:schemeClr val="tx1"/>
                </a:solidFill>
              </a:rPr>
              <a:t>Title</a:t>
            </a:r>
            <a:endParaRPr lang="en-US" sz="8000" dirty="0"/>
          </a:p>
        </p:txBody>
      </p:sp>
      <p:sp>
        <p:nvSpPr>
          <p:cNvPr id="4" name="Text 0"/>
          <p:cNvSpPr/>
          <p:nvPr>
            <p:ph idx="102" type="body" hasCustomPrompt="1"/>
          </p:nvPr>
        </p:nvSpPr>
        <p:spPr>
          <a:xfrm>
            <a:off x="813816" y="3566160"/>
            <a:ext cx="6766560" cy="1737360"/>
          </a:xfrm>
          <a:prstGeom prst="rect">
            <a:avLst/>
          </a:prstGeom>
          <a:noFill/>
          <a:ln/>
        </p:spPr>
        <p:txBody>
          <a:bodyPr wrap="square" rtlCol="0"/>
          <a:lstStyle>
            <a:lvl1pPr algn="l" indent="0" marL="0">
              <a:lnSpc>
                <a:spcPct val="110000"/>
              </a:lnSpc>
              <a:buNone/>
              <a:defRPr lang="en-US" sz="2400" dirty="0">
                <a:solidFill>
                  <a:schemeClr val="tx1"/>
                </a:solidFill>
              </a:defRPr>
            </a:lvl1pPr>
          </a:lstStyle>
          <a:p>
            <a:pPr algn="l" indent="0" marL="0">
              <a:lnSpc>
                <a:spcPct val="110000"/>
              </a:lnSpc>
              <a:buNone/>
            </a:pPr>
            <a:r>
              <a:rPr lang="en-US" sz="2400" dirty="0">
                <a:solidFill>
                  <a:schemeClr val="tx1"/>
                </a:solidFill>
              </a:rPr>
              <a:t>Body</a:t>
            </a:r>
            <a:endParaRPr lang="en-US" sz="24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H Content 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rtlCol="0"/>
          <a:lstStyle>
            <a:lvl1pPr algn="l" indent="0" marL="0">
              <a:buNone/>
              <a:defRPr lang="en-US" sz="1400" b="1" spc="300" kern="0" dirty="0">
                <a:solidFill>
                  <a:schemeClr val="accent1"/>
                </a:solidFill>
              </a:defRPr>
            </a:lvl1pPr>
          </a:lstStyle>
          <a:p>
            <a:pPr algn="l" indent="0" marL="0">
              <a:buNone/>
            </a:pPr>
            <a:r>
              <a:rPr lang="en-US" sz="1400" b="1" spc="300" kern="0" dirty="0">
                <a:solidFill>
                  <a:schemeClr val="accent1"/>
                </a:solidFill>
              </a:rPr>
              <a:t>Eyebrow</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Title</a:t>
            </a:r>
            <a:endParaRPr lang="en-US" sz="36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H Content Tint">
    <p:bg>
      <p:bgPr>
        <a:solidFill>
          <a:schemeClr val="accent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rtlCol="0"/>
          <a:lstStyle>
            <a:lvl1pPr algn="l" indent="0" marL="0">
              <a:buNone/>
              <a:defRPr lang="en-US" sz="1400" b="1" spc="300" kern="0" dirty="0">
                <a:solidFill>
                  <a:schemeClr val="accent1"/>
                </a:solidFill>
              </a:defRPr>
            </a:lvl1pPr>
          </a:lstStyle>
          <a:p>
            <a:pPr algn="l" indent="0" marL="0">
              <a:buNone/>
            </a:pPr>
            <a:r>
              <a:rPr lang="en-US" sz="1400" b="1" spc="300" kern="0" dirty="0">
                <a:solidFill>
                  <a:schemeClr val="accent1"/>
                </a:solidFill>
              </a:rPr>
              <a:t>Eyebrow</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Title</a:t>
            </a:r>
            <a:endParaRPr lang="en-US" sz="36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H Content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rtlCol="0"/>
          <a:lstStyle>
            <a:lvl1pPr algn="l" indent="0" marL="0">
              <a:buNone/>
              <a:defRPr lang="en-US" sz="1400" b="1" spc="300" kern="0" dirty="0">
                <a:solidFill>
                  <a:schemeClr val="accent6"/>
                </a:solidFill>
              </a:defRPr>
            </a:lvl1pPr>
          </a:lstStyle>
          <a:p>
            <a:pPr algn="l" indent="0" marL="0">
              <a:buNone/>
            </a:pPr>
            <a:r>
              <a:rPr lang="en-US" sz="1400" b="1" spc="300" kern="0" dirty="0">
                <a:solidFill>
                  <a:schemeClr val="accent6"/>
                </a:solidFill>
              </a:rPr>
              <a:t>Eyebrow</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rtlCol="0"/>
          <a:lstStyle>
            <a:lvl1pPr algn="l" indent="0" marL="0">
              <a:buNone/>
              <a:defRPr lang="en-US" sz="3600" b="1" dirty="0">
                <a:solidFill>
                  <a:schemeClr val="bg2"/>
                </a:solidFill>
              </a:defRPr>
            </a:lvl1pPr>
          </a:lstStyle>
          <a:p>
            <a:pPr algn="l" indent="0" marL="0">
              <a:buNone/>
            </a:pPr>
            <a:r>
              <a:rPr lang="en-US" sz="3600" b="1" dirty="0">
                <a:solidFill>
                  <a:schemeClr val="bg2"/>
                </a:solidFill>
              </a:rPr>
              <a:t>Title</a:t>
            </a:r>
            <a:endParaRPr lang="en-US" sz="36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MH Split Text 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914400"/>
            <a:ext cx="3931920" cy="365760"/>
          </a:xfrm>
          <a:prstGeom prst="rect">
            <a:avLst/>
          </a:prstGeom>
          <a:noFill/>
          <a:ln/>
        </p:spPr>
        <p:txBody>
          <a:bodyPr wrap="square" rtlCol="0"/>
          <a:lstStyle>
            <a:lvl1pPr algn="l" indent="0" marL="0">
              <a:buNone/>
              <a:defRPr lang="en-US" sz="1400" b="1" spc="300" kern="0" dirty="0">
                <a:solidFill>
                  <a:schemeClr val="accent1"/>
                </a:solidFill>
              </a:defRPr>
            </a:lvl1pPr>
          </a:lstStyle>
          <a:p>
            <a:pPr algn="l" indent="0" marL="0">
              <a:buNone/>
            </a:pPr>
            <a:r>
              <a:rPr lang="en-US" sz="1400" b="1" spc="300" kern="0" dirty="0">
                <a:solidFill>
                  <a:schemeClr val="accent1"/>
                </a:solidFill>
              </a:rPr>
              <a:t>Eyebrow</a:t>
            </a:r>
            <a:endParaRPr lang="en-US" sz="1400" dirty="0"/>
          </a:p>
        </p:txBody>
      </p:sp>
      <p:sp>
        <p:nvSpPr>
          <p:cNvPr id="3" name="Text 0"/>
          <p:cNvSpPr/>
          <p:nvPr>
            <p:ph idx="101" type="title" hasCustomPrompt="1"/>
          </p:nvPr>
        </p:nvSpPr>
        <p:spPr>
          <a:xfrm>
            <a:off x="813816" y="1280160"/>
            <a:ext cx="3931920" cy="16002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Title</a:t>
            </a:r>
            <a:endParaRPr lang="en-US" sz="3200" dirty="0"/>
          </a:p>
        </p:txBody>
      </p:sp>
      <p:sp>
        <p:nvSpPr>
          <p:cNvPr id="4" name="Text 0"/>
          <p:cNvSpPr/>
          <p:nvPr>
            <p:ph idx="102" type="body" hasCustomPrompt="1"/>
          </p:nvPr>
        </p:nvSpPr>
        <p:spPr>
          <a:xfrm>
            <a:off x="813816" y="3063240"/>
            <a:ext cx="3931920" cy="3017520"/>
          </a:xfrm>
          <a:prstGeom prst="rect">
            <a:avLst/>
          </a:prstGeom>
          <a:noFill/>
          <a:ln/>
        </p:spPr>
        <p:txBody>
          <a:bodyPr wrap="square" rtlCol="0"/>
          <a:lstStyle>
            <a:lvl1pPr algn="l" indent="0" marL="0">
              <a:spcAft>
                <a:spcPts val="800"/>
              </a:spcAft>
              <a:buNone/>
              <a:defRPr lang="en-US" sz="1500" dirty="0">
                <a:solidFill>
                  <a:schemeClr val="tx2"/>
                </a:solidFill>
              </a:defRPr>
            </a:lvl1pPr>
          </a:lstStyle>
          <a:p>
            <a:pPr algn="l" indent="0" marL="0">
              <a:spcAft>
                <a:spcPts val="800"/>
              </a:spcAft>
              <a:buNone/>
            </a:pPr>
            <a:r>
              <a:rPr lang="en-US" sz="1500" dirty="0">
                <a:solidFill>
                  <a:schemeClr val="tx2"/>
                </a:solidFill>
              </a:rPr>
              <a:t>Points</a:t>
            </a:r>
            <a:endParaRPr lang="en-US" sz="15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MH Split Text R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445959" y="914400"/>
            <a:ext cx="3931920" cy="365760"/>
          </a:xfrm>
          <a:prstGeom prst="rect">
            <a:avLst/>
          </a:prstGeom>
          <a:noFill/>
          <a:ln/>
        </p:spPr>
        <p:txBody>
          <a:bodyPr wrap="square" rtlCol="0"/>
          <a:lstStyle>
            <a:lvl1pPr algn="l" indent="0" marL="0">
              <a:buNone/>
              <a:defRPr lang="en-US" sz="1400" b="1" spc="300" kern="0" dirty="0">
                <a:solidFill>
                  <a:schemeClr val="accent1"/>
                </a:solidFill>
              </a:defRPr>
            </a:lvl1pPr>
          </a:lstStyle>
          <a:p>
            <a:pPr algn="l" indent="0" marL="0">
              <a:buNone/>
            </a:pPr>
            <a:r>
              <a:rPr lang="en-US" sz="1400" b="1" spc="300" kern="0" dirty="0">
                <a:solidFill>
                  <a:schemeClr val="accent1"/>
                </a:solidFill>
              </a:rPr>
              <a:t>Eyebrow</a:t>
            </a:r>
            <a:endParaRPr lang="en-US" sz="1400" dirty="0"/>
          </a:p>
        </p:txBody>
      </p:sp>
      <p:sp>
        <p:nvSpPr>
          <p:cNvPr id="3" name="Text 0"/>
          <p:cNvSpPr/>
          <p:nvPr>
            <p:ph idx="101" type="title" hasCustomPrompt="1"/>
          </p:nvPr>
        </p:nvSpPr>
        <p:spPr>
          <a:xfrm>
            <a:off x="7445959" y="1280160"/>
            <a:ext cx="3931920" cy="16002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Title</a:t>
            </a:r>
            <a:endParaRPr lang="en-US" sz="3200" dirty="0"/>
          </a:p>
        </p:txBody>
      </p:sp>
      <p:sp>
        <p:nvSpPr>
          <p:cNvPr id="4" name="Text 0"/>
          <p:cNvSpPr/>
          <p:nvPr>
            <p:ph idx="102" type="body" hasCustomPrompt="1"/>
          </p:nvPr>
        </p:nvSpPr>
        <p:spPr>
          <a:xfrm>
            <a:off x="7445959" y="3063240"/>
            <a:ext cx="3931920" cy="3017520"/>
          </a:xfrm>
          <a:prstGeom prst="rect">
            <a:avLst/>
          </a:prstGeom>
          <a:noFill/>
          <a:ln/>
        </p:spPr>
        <p:txBody>
          <a:bodyPr wrap="square" rtlCol="0"/>
          <a:lstStyle>
            <a:lvl1pPr algn="l" indent="0" marL="0">
              <a:spcAft>
                <a:spcPts val="800"/>
              </a:spcAft>
              <a:buNone/>
              <a:defRPr lang="en-US" sz="1500" dirty="0">
                <a:solidFill>
                  <a:schemeClr val="tx2"/>
                </a:solidFill>
              </a:defRPr>
            </a:lvl1pPr>
          </a:lstStyle>
          <a:p>
            <a:pPr algn="l" indent="0" marL="0">
              <a:spcAft>
                <a:spcPts val="800"/>
              </a:spcAft>
              <a:buNone/>
            </a:pPr>
            <a:r>
              <a:rPr lang="en-US" sz="1500" dirty="0">
                <a:solidFill>
                  <a:schemeClr val="tx2"/>
                </a:solidFill>
              </a:rPr>
              <a:t>Points</a:t>
            </a:r>
            <a:endParaRPr lang="en-US" sz="15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MH Split Text Right Tint">
    <p:bg>
      <p:bgPr>
        <a:solidFill>
          <a:schemeClr val="accent3"/>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445959" y="914400"/>
            <a:ext cx="3931920" cy="365760"/>
          </a:xfrm>
          <a:prstGeom prst="rect">
            <a:avLst/>
          </a:prstGeom>
          <a:noFill/>
          <a:ln/>
        </p:spPr>
        <p:txBody>
          <a:bodyPr wrap="square" rtlCol="0"/>
          <a:lstStyle>
            <a:lvl1pPr algn="l" indent="0" marL="0">
              <a:buNone/>
              <a:defRPr lang="en-US" sz="1400" b="1" spc="300" kern="0" dirty="0">
                <a:solidFill>
                  <a:schemeClr val="accent1"/>
                </a:solidFill>
              </a:defRPr>
            </a:lvl1pPr>
          </a:lstStyle>
          <a:p>
            <a:pPr algn="l" indent="0" marL="0">
              <a:buNone/>
            </a:pPr>
            <a:r>
              <a:rPr lang="en-US" sz="1400" b="1" spc="300" kern="0" dirty="0">
                <a:solidFill>
                  <a:schemeClr val="accent1"/>
                </a:solidFill>
              </a:rPr>
              <a:t>Eyebrow</a:t>
            </a:r>
            <a:endParaRPr lang="en-US" sz="1400" dirty="0"/>
          </a:p>
        </p:txBody>
      </p:sp>
      <p:sp>
        <p:nvSpPr>
          <p:cNvPr id="3" name="Text 0"/>
          <p:cNvSpPr/>
          <p:nvPr>
            <p:ph idx="101" type="title" hasCustomPrompt="1"/>
          </p:nvPr>
        </p:nvSpPr>
        <p:spPr>
          <a:xfrm>
            <a:off x="7445959" y="1280160"/>
            <a:ext cx="3931920" cy="16002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Title</a:t>
            </a:r>
            <a:endParaRPr lang="en-US" sz="3200" dirty="0"/>
          </a:p>
        </p:txBody>
      </p:sp>
      <p:sp>
        <p:nvSpPr>
          <p:cNvPr id="4" name="Text 0"/>
          <p:cNvSpPr/>
          <p:nvPr>
            <p:ph idx="102" type="body" hasCustomPrompt="1"/>
          </p:nvPr>
        </p:nvSpPr>
        <p:spPr>
          <a:xfrm>
            <a:off x="7445959" y="3063240"/>
            <a:ext cx="3931920" cy="3017520"/>
          </a:xfrm>
          <a:prstGeom prst="rect">
            <a:avLst/>
          </a:prstGeom>
          <a:noFill/>
          <a:ln/>
        </p:spPr>
        <p:txBody>
          <a:bodyPr wrap="square" rtlCol="0"/>
          <a:lstStyle>
            <a:lvl1pPr algn="l" indent="0" marL="0">
              <a:spcAft>
                <a:spcPts val="800"/>
              </a:spcAft>
              <a:buNone/>
              <a:defRPr lang="en-US" sz="1500" dirty="0">
                <a:solidFill>
                  <a:schemeClr val="tx2"/>
                </a:solidFill>
              </a:defRPr>
            </a:lvl1pPr>
          </a:lstStyle>
          <a:p>
            <a:pPr algn="l" indent="0" marL="0">
              <a:spcAft>
                <a:spcPts val="800"/>
              </a:spcAft>
              <a:buNone/>
            </a:pPr>
            <a:r>
              <a:rPr lang="en-US" sz="1500" dirty="0">
                <a:solidFill>
                  <a:schemeClr val="tx2"/>
                </a:solidFill>
              </a:rPr>
              <a:t>Points</a:t>
            </a:r>
            <a:endParaRPr lang="en-US" sz="15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7.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8.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6.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3816" y="1554480"/>
            <a:ext cx="7680960" cy="365760"/>
          </a:xfrm>
          <a:prstGeom prst="rect">
            <a:avLst/>
          </a:prstGeom>
          <a:noFill/>
          <a:ln/>
        </p:spPr>
        <p:txBody>
          <a:bodyPr wrap="square" lIns="0" tIns="0" rIns="0" bIns="0" rtlCol="0" anchor="t"/>
          <a:lstStyle/>
          <a:p>
            <a:pPr algn="l" indent="0" marL="0">
              <a:buNone/>
            </a:pPr>
            <a:r>
              <a:rPr lang="en-US" sz="1400" b="1" spc="300" kern="0" dirty="0">
                <a:solidFill>
                  <a:schemeClr val="accent6"/>
                </a:solidFill>
              </a:rPr>
              <a:t>HACKATHON DEMO · FALL 2026</a:t>
            </a:r>
            <a:endParaRPr lang="en-US" sz="1400" dirty="0"/>
          </a:p>
        </p:txBody>
      </p:sp>
      <p:sp>
        <p:nvSpPr>
          <p:cNvPr id="3" name="Text 0"/>
          <p:cNvSpPr/>
          <p:nvPr>
            <p:ph idx="101" type="title" hasCustomPrompt="1"/>
          </p:nvPr>
        </p:nvSpPr>
        <p:spPr>
          <a:xfrm>
            <a:off x="813816" y="1965960"/>
            <a:ext cx="10564063" cy="1234440"/>
          </a:xfrm>
          <a:prstGeom prst="rect">
            <a:avLst/>
          </a:prstGeom>
          <a:noFill/>
          <a:ln/>
        </p:spPr>
        <p:txBody>
          <a:bodyPr wrap="square" lIns="0" tIns="0" rIns="0" bIns="0" rtlCol="0" anchor="t"/>
          <a:lstStyle/>
          <a:p>
            <a:pPr algn="l" indent="0" marL="0">
              <a:buNone/>
            </a:pPr>
            <a:r>
              <a:rPr lang="en-US" sz="8000" b="1" dirty="0">
                <a:solidFill>
                  <a:schemeClr val="bg2"/>
                </a:solidFill>
              </a:rPr>
              <a:t>Mathub</a:t>
            </a:r>
            <a:endParaRPr lang="en-US" sz="8000" dirty="0"/>
          </a:p>
        </p:txBody>
      </p:sp>
      <p:sp>
        <p:nvSpPr>
          <p:cNvPr id="4" name="Text 0"/>
          <p:cNvSpPr/>
          <p:nvPr>
            <p:ph idx="102" type="body" hasCustomPrompt="1"/>
          </p:nvPr>
        </p:nvSpPr>
        <p:spPr>
          <a:xfrm>
            <a:off x="813816" y="3429000"/>
            <a:ext cx="7680960" cy="1234440"/>
          </a:xfrm>
          <a:prstGeom prst="rect">
            <a:avLst/>
          </a:prstGeom>
          <a:noFill/>
          <a:ln/>
        </p:spPr>
        <p:txBody>
          <a:bodyPr wrap="square" lIns="0" tIns="0" rIns="0" bIns="0" rtlCol="0" anchor="t"/>
          <a:lstStyle/>
          <a:p>
            <a:pPr algn="l" indent="0" marL="0">
              <a:lnSpc>
                <a:spcPct val="110000"/>
              </a:lnSpc>
              <a:buNone/>
            </a:pPr>
            <a:r>
              <a:rPr lang="en-US" sz="2400" dirty="0">
                <a:solidFill>
                  <a:schemeClr val="accent5"/>
                </a:solidFill>
              </a:rPr>
              <a:t>Every class, every exam, and an AI tutor who sees your screen.</a:t>
            </a:r>
            <a:endParaRPr lang="en-US" sz="2400" dirty="0"/>
          </a:p>
        </p:txBody>
      </p:sp>
      <p:sp>
        <p:nvSpPr>
          <p:cNvPr id="5" name="Text 0"/>
          <p:cNvSpPr/>
          <p:nvPr>
            <p:ph idx="103" type="body" hasCustomPrompt="1"/>
          </p:nvPr>
        </p:nvSpPr>
        <p:spPr>
          <a:xfrm>
            <a:off x="813816" y="4846320"/>
            <a:ext cx="7680960" cy="365760"/>
          </a:xfrm>
          <a:prstGeom prst="rect">
            <a:avLst/>
          </a:prstGeom>
          <a:noFill/>
          <a:ln/>
        </p:spPr>
        <p:txBody>
          <a:bodyPr wrap="square" lIns="0" tIns="0" rIns="0" bIns="0" rtlCol="0" anchor="t"/>
          <a:lstStyle/>
          <a:p>
            <a:pPr algn="l" indent="0" marL="0">
              <a:buNone/>
            </a:pPr>
            <a:r>
              <a:rPr lang="en-US" sz="1400" dirty="0">
                <a:solidFill>
                  <a:schemeClr val="accent5"/>
                </a:solidFill>
              </a:rPr>
              <a:t>Nikoloz Nonikashvili · Montana State University · mathub.space</a:t>
            </a:r>
            <a:endParaRPr lang="en-US" sz="1400" dirty="0"/>
          </a:p>
        </p:txBody>
      </p:sp>
      <p:pic>
        <p:nvPicPr>
          <p:cNvPr id="6" name="Phone screenshot" descr="Mathub on a phone: the Calculus I dashboard three days before Exam 2, with Bo in the corner">    </p:cNvPr>
          <p:cNvPicPr>
            <a:picLocks noChangeAspect="1"/>
          </p:cNvPicPr>
          <p:nvPr/>
        </p:nvPicPr>
        <p:blipFill>
          <a:blip r:embed="rId1"/>
          <a:stretch>
            <a:fillRect/>
          </a:stretch>
        </p:blipFill>
        <p:spPr>
          <a:xfrm>
            <a:off x="8969454" y="822960"/>
            <a:ext cx="2408426" cy="5212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THE PROBLEM</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lIns="0" tIns="0" rIns="0" bIns="0" rtlCol="0" anchor="t"/>
          <a:lstStyle/>
          <a:p>
            <a:pPr algn="l" indent="0" marL="0">
              <a:buNone/>
            </a:pPr>
            <a:r>
              <a:rPr lang="en-US" sz="3600" b="1" dirty="0">
                <a:solidFill>
                  <a:schemeClr val="tx1"/>
                </a:solidFill>
              </a:rPr>
              <a:t>Studying for a class is scattered</a:t>
            </a:r>
            <a:endParaRPr lang="en-US" sz="3600" dirty="0"/>
          </a:p>
        </p:txBody>
      </p:sp>
      <p:sp>
        <p:nvSpPr>
          <p:cNvPr id="4" name="Too many places card"/>
          <p:cNvSpPr/>
          <p:nvPr/>
        </p:nvSpPr>
        <p:spPr>
          <a:xfrm>
            <a:off x="813816" y="2514600"/>
            <a:ext cx="3307994" cy="2880360"/>
          </a:xfrm>
          <a:prstGeom prst="roundRect">
            <a:avLst>
              <a:gd name="adj" fmla="val 6984"/>
            </a:avLst>
          </a:prstGeom>
          <a:solidFill>
            <a:schemeClr val="bg1"/>
          </a:solidFill>
          <a:ln w="9525">
            <a:solidFill>
              <a:schemeClr val="accent5"/>
            </a:solidFill>
            <a:prstDash val="solid"/>
          </a:ln>
        </p:spPr>
      </p:sp>
      <p:sp>
        <p:nvSpPr>
          <p:cNvPr id="5" name="Too many places disc"/>
          <p:cNvSpPr/>
          <p:nvPr/>
        </p:nvSpPr>
        <p:spPr>
          <a:xfrm>
            <a:off x="1133856" y="2834640"/>
            <a:ext cx="685800" cy="685800"/>
          </a:xfrm>
          <a:prstGeom prst="ellipse">
            <a:avLst/>
          </a:prstGeom>
          <a:solidFill>
            <a:schemeClr val="accent3"/>
          </a:solidFill>
          <a:ln/>
        </p:spPr>
      </p:sp>
      <p:pic>
        <p:nvPicPr>
          <p:cNvPr id="6" name="Too many places icon" descr="preencoded.png">    </p:cNvPr>
          <p:cNvPicPr>
            <a:picLocks noChangeAspect="1"/>
          </p:cNvPicPr>
          <p:nvPr/>
        </p:nvPicPr>
        <p:blipFill>
          <a:blip r:embed="rId1"/>
          <a:stretch>
            <a:fillRect/>
          </a:stretch>
        </p:blipFill>
        <p:spPr>
          <a:xfrm>
            <a:off x="1305306" y="3006090"/>
            <a:ext cx="342900" cy="342900"/>
          </a:xfrm>
          <a:prstGeom prst="rect">
            <a:avLst/>
          </a:prstGeom>
        </p:spPr>
      </p:pic>
      <p:sp>
        <p:nvSpPr>
          <p:cNvPr id="7" name="Text 4"/>
          <p:cNvSpPr txBox="1"/>
          <p:nvPr/>
        </p:nvSpPr>
        <p:spPr>
          <a:xfrm>
            <a:off x="1133856" y="3703320"/>
            <a:ext cx="2667914"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Too many places</a:t>
            </a:r>
            <a:endParaRPr lang="en-US" sz="2000" dirty="0"/>
          </a:p>
        </p:txBody>
      </p:sp>
      <p:sp>
        <p:nvSpPr>
          <p:cNvPr id="8" name="Text 5"/>
          <p:cNvSpPr txBox="1"/>
          <p:nvPr/>
        </p:nvSpPr>
        <p:spPr>
          <a:xfrm>
            <a:off x="1133856" y="4251960"/>
            <a:ext cx="2667914" cy="86868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The syllabus PDF, Canvas, the textbook, online homework, your notes, the group chat.</a:t>
            </a:r>
            <a:endParaRPr lang="en-US" sz="1500" dirty="0"/>
          </a:p>
        </p:txBody>
      </p:sp>
      <p:sp>
        <p:nvSpPr>
          <p:cNvPr id="9" name="Help runs out card"/>
          <p:cNvSpPr/>
          <p:nvPr/>
        </p:nvSpPr>
        <p:spPr>
          <a:xfrm>
            <a:off x="4441850" y="2514600"/>
            <a:ext cx="3307994" cy="2880360"/>
          </a:xfrm>
          <a:prstGeom prst="roundRect">
            <a:avLst>
              <a:gd name="adj" fmla="val 6984"/>
            </a:avLst>
          </a:prstGeom>
          <a:solidFill>
            <a:schemeClr val="bg1"/>
          </a:solidFill>
          <a:ln w="9525">
            <a:solidFill>
              <a:schemeClr val="accent5"/>
            </a:solidFill>
            <a:prstDash val="solid"/>
          </a:ln>
        </p:spPr>
      </p:sp>
      <p:sp>
        <p:nvSpPr>
          <p:cNvPr id="10" name="Help runs out disc"/>
          <p:cNvSpPr/>
          <p:nvPr/>
        </p:nvSpPr>
        <p:spPr>
          <a:xfrm>
            <a:off x="4761890" y="2834640"/>
            <a:ext cx="685800" cy="685800"/>
          </a:xfrm>
          <a:prstGeom prst="ellipse">
            <a:avLst/>
          </a:prstGeom>
          <a:solidFill>
            <a:schemeClr val="accent3"/>
          </a:solidFill>
          <a:ln/>
        </p:spPr>
      </p:sp>
      <p:pic>
        <p:nvPicPr>
          <p:cNvPr id="11" name="Help runs out icon" descr="preencoded.png">    </p:cNvPr>
          <p:cNvPicPr>
            <a:picLocks noChangeAspect="1"/>
          </p:cNvPicPr>
          <p:nvPr/>
        </p:nvPicPr>
        <p:blipFill>
          <a:blip r:embed="rId2"/>
          <a:stretch>
            <a:fillRect/>
          </a:stretch>
        </p:blipFill>
        <p:spPr>
          <a:xfrm>
            <a:off x="4933340" y="3006090"/>
            <a:ext cx="342900" cy="342900"/>
          </a:xfrm>
          <a:prstGeom prst="rect">
            <a:avLst/>
          </a:prstGeom>
        </p:spPr>
      </p:pic>
      <p:sp>
        <p:nvSpPr>
          <p:cNvPr id="12" name="Text 8"/>
          <p:cNvSpPr txBox="1"/>
          <p:nvPr/>
        </p:nvSpPr>
        <p:spPr>
          <a:xfrm>
            <a:off x="4761890" y="3703320"/>
            <a:ext cx="2667914"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Help runs out</a:t>
            </a:r>
            <a:endParaRPr lang="en-US" sz="2000" dirty="0"/>
          </a:p>
        </p:txBody>
      </p:sp>
      <p:sp>
        <p:nvSpPr>
          <p:cNvPr id="13" name="Text 9"/>
          <p:cNvSpPr txBox="1"/>
          <p:nvPr/>
        </p:nvSpPr>
        <p:spPr>
          <a:xfrm>
            <a:off x="4761890" y="4251960"/>
            <a:ext cx="2667914" cy="86868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Office hours end in the afternoon. The question you’re stuck on comes up at eleven at night.</a:t>
            </a:r>
            <a:endParaRPr lang="en-US" sz="1500" dirty="0"/>
          </a:p>
        </p:txBody>
      </p:sp>
      <p:sp>
        <p:nvSpPr>
          <p:cNvPr id="14" name="Exam prep is a guess card"/>
          <p:cNvSpPr/>
          <p:nvPr/>
        </p:nvSpPr>
        <p:spPr>
          <a:xfrm>
            <a:off x="8069885" y="2514600"/>
            <a:ext cx="3307994" cy="2880360"/>
          </a:xfrm>
          <a:prstGeom prst="roundRect">
            <a:avLst>
              <a:gd name="adj" fmla="val 6984"/>
            </a:avLst>
          </a:prstGeom>
          <a:solidFill>
            <a:schemeClr val="bg1"/>
          </a:solidFill>
          <a:ln w="9525">
            <a:solidFill>
              <a:schemeClr val="accent5"/>
            </a:solidFill>
            <a:prstDash val="solid"/>
          </a:ln>
        </p:spPr>
      </p:sp>
      <p:sp>
        <p:nvSpPr>
          <p:cNvPr id="15" name="Exam prep is a guess disc"/>
          <p:cNvSpPr/>
          <p:nvPr/>
        </p:nvSpPr>
        <p:spPr>
          <a:xfrm>
            <a:off x="8389925" y="2834640"/>
            <a:ext cx="685800" cy="685800"/>
          </a:xfrm>
          <a:prstGeom prst="ellipse">
            <a:avLst/>
          </a:prstGeom>
          <a:solidFill>
            <a:schemeClr val="accent3"/>
          </a:solidFill>
          <a:ln/>
        </p:spPr>
      </p:sp>
      <p:pic>
        <p:nvPicPr>
          <p:cNvPr id="16" name="Exam prep is a guess icon" descr="preencoded.png">    </p:cNvPr>
          <p:cNvPicPr>
            <a:picLocks noChangeAspect="1"/>
          </p:cNvPicPr>
          <p:nvPr/>
        </p:nvPicPr>
        <p:blipFill>
          <a:blip r:embed="rId3"/>
          <a:stretch>
            <a:fillRect/>
          </a:stretch>
        </p:blipFill>
        <p:spPr>
          <a:xfrm>
            <a:off x="8561375" y="3006090"/>
            <a:ext cx="342900" cy="342900"/>
          </a:xfrm>
          <a:prstGeom prst="rect">
            <a:avLst/>
          </a:prstGeom>
        </p:spPr>
      </p:pic>
      <p:sp>
        <p:nvSpPr>
          <p:cNvPr id="17" name="Text 12"/>
          <p:cNvSpPr txBox="1"/>
          <p:nvPr/>
        </p:nvSpPr>
        <p:spPr>
          <a:xfrm>
            <a:off x="8389925" y="3703320"/>
            <a:ext cx="2667914"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Exam prep is a guess</a:t>
            </a:r>
            <a:endParaRPr lang="en-US" sz="2000" dirty="0"/>
          </a:p>
        </p:txBody>
      </p:sp>
      <p:sp>
        <p:nvSpPr>
          <p:cNvPr id="18" name="Text 13"/>
          <p:cNvSpPr txBox="1"/>
          <p:nvPr/>
        </p:nvSpPr>
        <p:spPr>
          <a:xfrm>
            <a:off x="8389925" y="4251960"/>
            <a:ext cx="2667914" cy="86868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What is on the exam? What am I weak at? Am I ready? Nobody tells you until the grade comes back.</a:t>
            </a:r>
            <a:endParaRPr lang="en-US" sz="15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3816" y="914400"/>
            <a:ext cx="3931920"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THE IDEA</a:t>
            </a:r>
            <a:endParaRPr lang="en-US" sz="1400" dirty="0"/>
          </a:p>
        </p:txBody>
      </p:sp>
      <p:sp>
        <p:nvSpPr>
          <p:cNvPr id="3" name="Text 0"/>
          <p:cNvSpPr/>
          <p:nvPr>
            <p:ph idx="101" type="title" hasCustomPrompt="1"/>
          </p:nvPr>
        </p:nvSpPr>
        <p:spPr>
          <a:xfrm>
            <a:off x="813816" y="1280160"/>
            <a:ext cx="3931920" cy="1600200"/>
          </a:xfrm>
          <a:prstGeom prst="rect">
            <a:avLst/>
          </a:prstGeom>
          <a:noFill/>
          <a:ln/>
        </p:spPr>
        <p:txBody>
          <a:bodyPr wrap="square" lIns="0" tIns="0" rIns="0" bIns="0" rtlCol="0" anchor="t"/>
          <a:lstStyle/>
          <a:p>
            <a:pPr algn="l" indent="0" marL="0">
              <a:buNone/>
            </a:pPr>
            <a:r>
              <a:rPr lang="en-US" sz="3200" b="1" dirty="0">
                <a:solidFill>
                  <a:schemeClr val="tx1"/>
                </a:solidFill>
              </a:rPr>
              <a:t>One hub per class, built from its real syllabus</a:t>
            </a:r>
            <a:endParaRPr lang="en-US" sz="3200" dirty="0"/>
          </a:p>
        </p:txBody>
      </p:sp>
      <p:sp>
        <p:nvSpPr>
          <p:cNvPr id="4" name="Text 0"/>
          <p:cNvSpPr/>
          <p:nvPr>
            <p:ph idx="102" type="body" hasCustomPrompt="1"/>
          </p:nvPr>
        </p:nvSpPr>
        <p:spPr>
          <a:xfrm>
            <a:off x="813816" y="3063240"/>
            <a:ext cx="3931920" cy="3017520"/>
          </a:xfrm>
          <a:prstGeom prst="rect">
            <a:avLst/>
          </a:prstGeom>
          <a:noFill/>
          <a:ln/>
        </p:spPr>
        <p:txBody>
          <a:bodyPr wrap="square" lIns="0" tIns="0" rIns="0" bIns="0" rtlCol="0" anchor="t"/>
          <a:lstStyle/>
          <a:p>
            <a:pPr algn="l" marL="228600" indent="-228600">
              <a:spcAft>
                <a:spcPts val="800"/>
              </a:spcAft>
              <a:buSzPct val="100000"/>
              <a:buChar char="•"/>
            </a:pPr>
            <a:r>
              <a:rPr lang="en-US" sz="1500" dirty="0">
                <a:solidFill>
                  <a:schemeClr val="tx2"/>
                </a:solidFill>
              </a:rPr>
              <a:t>Notes for every topic, linked to the free textbook</a:t>
            </a:r>
            <a:endParaRPr lang="en-US" sz="1500" dirty="0"/>
          </a:p>
          <a:p>
            <a:pPr algn="l" marL="228600" indent="-228600">
              <a:spcAft>
                <a:spcPts val="800"/>
              </a:spcAft>
              <a:buSzPct val="100000"/>
              <a:buChar char="•"/>
            </a:pPr>
            <a:r>
              <a:rPr lang="en-US" sz="1500" dirty="0">
                <a:solidFill>
                  <a:schemeClr val="tx2"/>
                </a:solidFill>
              </a:rPr>
              <a:t>Every exam and deadline, plus the Canvas calendar</a:t>
            </a:r>
            <a:endParaRPr lang="en-US" sz="1500" dirty="0"/>
          </a:p>
          <a:p>
            <a:pPr algn="l" marL="228600" indent="-228600">
              <a:spcAft>
                <a:spcPts val="800"/>
              </a:spcAft>
              <a:buSzPct val="100000"/>
              <a:buChar char="•"/>
            </a:pPr>
            <a:r>
              <a:rPr lang="en-US" sz="1500" dirty="0">
                <a:solidFill>
                  <a:schemeClr val="tx2"/>
                </a:solidFill>
              </a:rPr>
              <a:t>A readiness score for the next exam, topic by topic</a:t>
            </a:r>
            <a:endParaRPr lang="en-US" sz="1500" dirty="0"/>
          </a:p>
        </p:txBody>
      </p:sp>
      <p:sp>
        <p:nvSpPr>
          <p:cNvPr id="5" name="Dashboard screenshot shadow"/>
          <p:cNvSpPr/>
          <p:nvPr/>
        </p:nvSpPr>
        <p:spPr>
          <a:xfrm>
            <a:off x="5114239" y="1471613"/>
            <a:ext cx="6263640" cy="3914775"/>
          </a:xfrm>
          <a:prstGeom prst="roundRect">
            <a:avLst>
              <a:gd name="adj" fmla="val 3270"/>
            </a:avLst>
          </a:prstGeom>
          <a:solidFill>
            <a:schemeClr val="bg1"/>
          </a:solidFill>
          <a:ln/>
          <a:effectLst>
            <a:outerShdw sx="100000" sy="100000" kx="0" ky="0" algn="bl" rotWithShape="0" blurRad="228600" dist="76200" dir="5400000">
              <a:srgbClr val="121A33">
                <a:alpha val="18000"/>
              </a:srgbClr>
            </a:outerShdw>
          </a:effectLst>
        </p:spPr>
      </p:sp>
      <p:pic>
        <p:nvPicPr>
          <p:cNvPr id="6" name="Dashboard screenshot" descr="The Calculus I dashboard: three days to Exam 2, today’s plan and the plan for each day until the exam">    </p:cNvPr>
          <p:cNvPicPr>
            <a:picLocks noChangeAspect="1"/>
          </p:cNvPicPr>
          <p:nvPr/>
        </p:nvPicPr>
        <p:blipFill>
          <a:blip r:embed="rId1"/>
          <a:stretch>
            <a:fillRect/>
          </a:stretch>
        </p:blipFill>
        <p:spPr>
          <a:xfrm>
            <a:off x="5114239" y="1471613"/>
            <a:ext cx="6263640" cy="3914775"/>
          </a:xfrm>
          <a:prstGeom prst="rect">
            <a:avLst/>
          </a:prstGeom>
        </p:spPr>
      </p:pic>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HOW IT WORKS</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lIns="0" tIns="0" rIns="0" bIns="0" rtlCol="0" anchor="t"/>
          <a:lstStyle/>
          <a:p>
            <a:pPr algn="l" indent="0" marL="0">
              <a:buNone/>
            </a:pPr>
            <a:r>
              <a:rPr lang="en-US" sz="3600" b="1" dirty="0">
                <a:solidFill>
                  <a:schemeClr val="tx1"/>
                </a:solidFill>
              </a:rPr>
              <a:t>Every class is a climb to the next exam</a:t>
            </a:r>
            <a:endParaRPr lang="en-US" sz="3600" dirty="0"/>
          </a:p>
        </p:txBody>
      </p:sp>
      <p:sp>
        <p:nvSpPr>
          <p:cNvPr id="4" name="Syllabus step"/>
          <p:cNvSpPr/>
          <p:nvPr/>
        </p:nvSpPr>
        <p:spPr>
          <a:xfrm>
            <a:off x="813816" y="2514600"/>
            <a:ext cx="1747053" cy="1828800"/>
          </a:xfrm>
          <a:prstGeom prst="roundRect">
            <a:avLst>
              <a:gd name="adj" fmla="val 11515"/>
            </a:avLst>
          </a:prstGeom>
          <a:solidFill>
            <a:schemeClr val="bg1"/>
          </a:solidFill>
          <a:ln w="9525">
            <a:solidFill>
              <a:schemeClr val="accent5"/>
            </a:solidFill>
            <a:prstDash val="solid"/>
          </a:ln>
        </p:spPr>
      </p:sp>
      <p:sp>
        <p:nvSpPr>
          <p:cNvPr id="5" name="Text 3"/>
          <p:cNvSpPr txBox="1"/>
          <p:nvPr/>
        </p:nvSpPr>
        <p:spPr>
          <a:xfrm>
            <a:off x="1014984" y="2743200"/>
            <a:ext cx="1344717" cy="41148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Syllabus</a:t>
            </a:r>
            <a:endParaRPr lang="en-US" sz="1700" dirty="0"/>
          </a:p>
        </p:txBody>
      </p:sp>
      <p:sp>
        <p:nvSpPr>
          <p:cNvPr id="6" name="Text 4"/>
          <p:cNvSpPr txBox="1"/>
          <p:nvPr/>
        </p:nvSpPr>
        <p:spPr>
          <a:xfrm>
            <a:off x="1014984" y="3246120"/>
            <a:ext cx="1344717" cy="960120"/>
          </a:xfrm>
          <a:prstGeom prst="rect">
            <a:avLst/>
          </a:prstGeom>
          <a:noFill/>
          <a:ln/>
        </p:spPr>
        <p:txBody>
          <a:bodyPr wrap="square" lIns="0" tIns="0" rIns="0" bIns="0" rtlCol="0" anchor="t"/>
          <a:lstStyle/>
          <a:p>
            <a:pPr indent="0" marL="0">
              <a:lnSpc>
                <a:spcPct val="105000"/>
              </a:lnSpc>
              <a:buNone/>
            </a:pPr>
            <a:r>
              <a:rPr lang="en-US" sz="1400" dirty="0">
                <a:solidFill>
                  <a:schemeClr val="tx2"/>
                </a:solidFill>
              </a:rPr>
              <a:t>Topics, dates and grading</a:t>
            </a:r>
            <a:endParaRPr lang="en-US" sz="1400" dirty="0"/>
          </a:p>
        </p:txBody>
      </p:sp>
      <p:sp>
        <p:nvSpPr>
          <p:cNvPr id="7" name="Arrow 1"/>
          <p:cNvSpPr/>
          <p:nvPr/>
        </p:nvSpPr>
        <p:spPr>
          <a:xfrm>
            <a:off x="2643165" y="3310128"/>
            <a:ext cx="292608" cy="237744"/>
          </a:xfrm>
          <a:prstGeom prst="rightArrow">
            <a:avLst/>
          </a:prstGeom>
          <a:solidFill>
            <a:schemeClr val="accent1"/>
          </a:solidFill>
          <a:ln/>
        </p:spPr>
      </p:sp>
      <p:sp>
        <p:nvSpPr>
          <p:cNvPr id="8" name="Learn step"/>
          <p:cNvSpPr/>
          <p:nvPr/>
        </p:nvSpPr>
        <p:spPr>
          <a:xfrm>
            <a:off x="3018069" y="2514600"/>
            <a:ext cx="1747053" cy="1828800"/>
          </a:xfrm>
          <a:prstGeom prst="roundRect">
            <a:avLst>
              <a:gd name="adj" fmla="val 11515"/>
            </a:avLst>
          </a:prstGeom>
          <a:solidFill>
            <a:schemeClr val="bg1"/>
          </a:solidFill>
          <a:ln w="9525">
            <a:solidFill>
              <a:schemeClr val="accent5"/>
            </a:solidFill>
            <a:prstDash val="solid"/>
          </a:ln>
        </p:spPr>
      </p:sp>
      <p:sp>
        <p:nvSpPr>
          <p:cNvPr id="9" name="Text 7"/>
          <p:cNvSpPr txBox="1"/>
          <p:nvPr/>
        </p:nvSpPr>
        <p:spPr>
          <a:xfrm>
            <a:off x="3219237" y="2743200"/>
            <a:ext cx="1344717" cy="41148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Learn</a:t>
            </a:r>
            <a:endParaRPr lang="en-US" sz="1700" dirty="0"/>
          </a:p>
        </p:txBody>
      </p:sp>
      <p:sp>
        <p:nvSpPr>
          <p:cNvPr id="10" name="Text 8"/>
          <p:cNvSpPr txBox="1"/>
          <p:nvPr/>
        </p:nvSpPr>
        <p:spPr>
          <a:xfrm>
            <a:off x="3219237" y="3246120"/>
            <a:ext cx="1344717" cy="960120"/>
          </a:xfrm>
          <a:prstGeom prst="rect">
            <a:avLst/>
          </a:prstGeom>
          <a:noFill/>
          <a:ln/>
        </p:spPr>
        <p:txBody>
          <a:bodyPr wrap="square" lIns="0" tIns="0" rIns="0" bIns="0" rtlCol="0" anchor="t"/>
          <a:lstStyle/>
          <a:p>
            <a:pPr indent="0" marL="0">
              <a:lnSpc>
                <a:spcPct val="105000"/>
              </a:lnSpc>
              <a:buNone/>
            </a:pPr>
            <a:r>
              <a:rPr lang="en-US" sz="1400" dirty="0">
                <a:solidFill>
                  <a:schemeClr val="tx2"/>
                </a:solidFill>
              </a:rPr>
              <a:t>A note and a short lesson per topic</a:t>
            </a:r>
            <a:endParaRPr lang="en-US" sz="1400" dirty="0"/>
          </a:p>
        </p:txBody>
      </p:sp>
      <p:sp>
        <p:nvSpPr>
          <p:cNvPr id="11" name="Arrow 2"/>
          <p:cNvSpPr/>
          <p:nvPr/>
        </p:nvSpPr>
        <p:spPr>
          <a:xfrm>
            <a:off x="4847417" y="3310128"/>
            <a:ext cx="292608" cy="237744"/>
          </a:xfrm>
          <a:prstGeom prst="rightArrow">
            <a:avLst/>
          </a:prstGeom>
          <a:solidFill>
            <a:schemeClr val="accent1"/>
          </a:solidFill>
          <a:ln/>
        </p:spPr>
      </p:sp>
      <p:sp>
        <p:nvSpPr>
          <p:cNvPr id="12" name="Practice step"/>
          <p:cNvSpPr/>
          <p:nvPr/>
        </p:nvSpPr>
        <p:spPr>
          <a:xfrm>
            <a:off x="5222321" y="2514600"/>
            <a:ext cx="1747053" cy="1828800"/>
          </a:xfrm>
          <a:prstGeom prst="roundRect">
            <a:avLst>
              <a:gd name="adj" fmla="val 11515"/>
            </a:avLst>
          </a:prstGeom>
          <a:solidFill>
            <a:schemeClr val="bg1"/>
          </a:solidFill>
          <a:ln w="9525">
            <a:solidFill>
              <a:schemeClr val="accent5"/>
            </a:solidFill>
            <a:prstDash val="solid"/>
          </a:ln>
        </p:spPr>
      </p:sp>
      <p:sp>
        <p:nvSpPr>
          <p:cNvPr id="13" name="Text 11"/>
          <p:cNvSpPr txBox="1"/>
          <p:nvPr/>
        </p:nvSpPr>
        <p:spPr>
          <a:xfrm>
            <a:off x="5423489" y="2743200"/>
            <a:ext cx="1344717" cy="41148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Practice</a:t>
            </a:r>
            <a:endParaRPr lang="en-US" sz="1700" dirty="0"/>
          </a:p>
        </p:txBody>
      </p:sp>
      <p:sp>
        <p:nvSpPr>
          <p:cNvPr id="14" name="Text 12"/>
          <p:cNvSpPr txBox="1"/>
          <p:nvPr/>
        </p:nvSpPr>
        <p:spPr>
          <a:xfrm>
            <a:off x="5423489" y="3246120"/>
            <a:ext cx="1344717" cy="960120"/>
          </a:xfrm>
          <a:prstGeom prst="rect">
            <a:avLst/>
          </a:prstGeom>
          <a:noFill/>
          <a:ln/>
        </p:spPr>
        <p:txBody>
          <a:bodyPr wrap="square" lIns="0" tIns="0" rIns="0" bIns="0" rtlCol="0" anchor="t"/>
          <a:lstStyle/>
          <a:p>
            <a:pPr indent="0" marL="0">
              <a:lnSpc>
                <a:spcPct val="105000"/>
              </a:lnSpc>
              <a:buNone/>
            </a:pPr>
            <a:r>
              <a:rPr lang="en-US" sz="1400" dirty="0">
                <a:solidFill>
                  <a:schemeClr val="tx2"/>
                </a:solidFill>
              </a:rPr>
              <a:t>Endless questions and flashcards</a:t>
            </a:r>
            <a:endParaRPr lang="en-US" sz="1400" dirty="0"/>
          </a:p>
        </p:txBody>
      </p:sp>
      <p:sp>
        <p:nvSpPr>
          <p:cNvPr id="15" name="Arrow 3"/>
          <p:cNvSpPr/>
          <p:nvPr/>
        </p:nvSpPr>
        <p:spPr>
          <a:xfrm>
            <a:off x="7051670" y="3310128"/>
            <a:ext cx="292608" cy="237744"/>
          </a:xfrm>
          <a:prstGeom prst="rightArrow">
            <a:avLst/>
          </a:prstGeom>
          <a:solidFill>
            <a:schemeClr val="accent1"/>
          </a:solidFill>
          <a:ln/>
        </p:spPr>
      </p:sp>
      <p:sp>
        <p:nvSpPr>
          <p:cNvPr id="16" name="Readiness step"/>
          <p:cNvSpPr/>
          <p:nvPr/>
        </p:nvSpPr>
        <p:spPr>
          <a:xfrm>
            <a:off x="7426574" y="2514600"/>
            <a:ext cx="1747053" cy="1828800"/>
          </a:xfrm>
          <a:prstGeom prst="roundRect">
            <a:avLst>
              <a:gd name="adj" fmla="val 11515"/>
            </a:avLst>
          </a:prstGeom>
          <a:solidFill>
            <a:schemeClr val="bg1"/>
          </a:solidFill>
          <a:ln w="9525">
            <a:solidFill>
              <a:schemeClr val="accent5"/>
            </a:solidFill>
            <a:prstDash val="solid"/>
          </a:ln>
        </p:spPr>
      </p:sp>
      <p:sp>
        <p:nvSpPr>
          <p:cNvPr id="17" name="Text 15"/>
          <p:cNvSpPr txBox="1"/>
          <p:nvPr/>
        </p:nvSpPr>
        <p:spPr>
          <a:xfrm>
            <a:off x="7627742" y="2743200"/>
            <a:ext cx="1344717" cy="411480"/>
          </a:xfrm>
          <a:prstGeom prst="rect">
            <a:avLst/>
          </a:prstGeom>
          <a:noFill/>
          <a:ln/>
        </p:spPr>
        <p:txBody>
          <a:bodyPr wrap="square" lIns="0" tIns="0" rIns="0" bIns="0" rtlCol="0" anchor="t"/>
          <a:lstStyle/>
          <a:p>
            <a:pPr indent="0" marL="0">
              <a:buNone/>
            </a:pPr>
            <a:r>
              <a:rPr lang="en-US" sz="1700" b="1" dirty="0">
                <a:solidFill>
                  <a:schemeClr val="accent1"/>
                </a:solidFill>
                <a:latin typeface="Arial" pitchFamily="34" charset="0"/>
                <a:ea typeface="Arial" pitchFamily="34" charset="-122"/>
                <a:cs typeface="Arial" pitchFamily="34" charset="-120"/>
              </a:rPr>
              <a:t>Readiness</a:t>
            </a:r>
            <a:endParaRPr lang="en-US" sz="1700" dirty="0"/>
          </a:p>
        </p:txBody>
      </p:sp>
      <p:sp>
        <p:nvSpPr>
          <p:cNvPr id="18" name="Text 16"/>
          <p:cNvSpPr txBox="1"/>
          <p:nvPr/>
        </p:nvSpPr>
        <p:spPr>
          <a:xfrm>
            <a:off x="7627742" y="3246120"/>
            <a:ext cx="1344717" cy="960120"/>
          </a:xfrm>
          <a:prstGeom prst="rect">
            <a:avLst/>
          </a:prstGeom>
          <a:noFill/>
          <a:ln/>
        </p:spPr>
        <p:txBody>
          <a:bodyPr wrap="square" lIns="0" tIns="0" rIns="0" bIns="0" rtlCol="0" anchor="t"/>
          <a:lstStyle/>
          <a:p>
            <a:pPr indent="0" marL="0">
              <a:lnSpc>
                <a:spcPct val="105000"/>
              </a:lnSpc>
              <a:buNone/>
            </a:pPr>
            <a:r>
              <a:rPr lang="en-US" sz="1400" dirty="0">
                <a:solidFill>
                  <a:schemeClr val="tx2"/>
                </a:solidFill>
              </a:rPr>
              <a:t>How close you are, topic by topic</a:t>
            </a:r>
            <a:endParaRPr lang="en-US" sz="1400" dirty="0"/>
          </a:p>
        </p:txBody>
      </p:sp>
      <p:sp>
        <p:nvSpPr>
          <p:cNvPr id="19" name="Arrow 4"/>
          <p:cNvSpPr/>
          <p:nvPr/>
        </p:nvSpPr>
        <p:spPr>
          <a:xfrm>
            <a:off x="9255923" y="3310128"/>
            <a:ext cx="292608" cy="237744"/>
          </a:xfrm>
          <a:prstGeom prst="rightArrow">
            <a:avLst/>
          </a:prstGeom>
          <a:solidFill>
            <a:schemeClr val="accent1"/>
          </a:solidFill>
          <a:ln/>
        </p:spPr>
      </p:sp>
      <p:sp>
        <p:nvSpPr>
          <p:cNvPr id="20" name="Exam step"/>
          <p:cNvSpPr/>
          <p:nvPr/>
        </p:nvSpPr>
        <p:spPr>
          <a:xfrm>
            <a:off x="9630827" y="2514600"/>
            <a:ext cx="1747053" cy="1828800"/>
          </a:xfrm>
          <a:prstGeom prst="roundRect">
            <a:avLst>
              <a:gd name="adj" fmla="val 11515"/>
            </a:avLst>
          </a:prstGeom>
          <a:solidFill>
            <a:schemeClr val="tx1"/>
          </a:solidFill>
          <a:ln/>
        </p:spPr>
      </p:sp>
      <p:sp>
        <p:nvSpPr>
          <p:cNvPr id="21" name="Text 19"/>
          <p:cNvSpPr txBox="1"/>
          <p:nvPr/>
        </p:nvSpPr>
        <p:spPr>
          <a:xfrm>
            <a:off x="9831995" y="2743200"/>
            <a:ext cx="1344717" cy="41148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Exam</a:t>
            </a:r>
            <a:endParaRPr lang="en-US" sz="1700" dirty="0"/>
          </a:p>
        </p:txBody>
      </p:sp>
      <p:sp>
        <p:nvSpPr>
          <p:cNvPr id="22" name="Text 20"/>
          <p:cNvSpPr txBox="1"/>
          <p:nvPr/>
        </p:nvSpPr>
        <p:spPr>
          <a:xfrm>
            <a:off x="9831995" y="3246120"/>
            <a:ext cx="1344717" cy="960120"/>
          </a:xfrm>
          <a:prstGeom prst="rect">
            <a:avLst/>
          </a:prstGeom>
          <a:noFill/>
          <a:ln/>
        </p:spPr>
        <p:txBody>
          <a:bodyPr wrap="square" lIns="0" tIns="0" rIns="0" bIns="0" rtlCol="0" anchor="t"/>
          <a:lstStyle/>
          <a:p>
            <a:pPr indent="0" marL="0">
              <a:lnSpc>
                <a:spcPct val="105000"/>
              </a:lnSpc>
              <a:buNone/>
            </a:pPr>
            <a:r>
              <a:rPr lang="en-US" sz="1400" dirty="0">
                <a:solidFill>
                  <a:schemeClr val="accent5"/>
                </a:solidFill>
              </a:rPr>
              <a:t>The summit, with a plan for each day</a:t>
            </a:r>
            <a:endParaRPr lang="en-US" sz="1400" dirty="0"/>
          </a:p>
        </p:txBody>
      </p:sp>
      <p:sp>
        <p:nvSpPr>
          <p:cNvPr id="23" name="Text 21"/>
          <p:cNvSpPr txBox="1"/>
          <p:nvPr/>
        </p:nvSpPr>
        <p:spPr>
          <a:xfrm>
            <a:off x="813816" y="4846320"/>
            <a:ext cx="10564063" cy="822960"/>
          </a:xfrm>
          <a:prstGeom prst="rect">
            <a:avLst/>
          </a:prstGeom>
          <a:noFill/>
          <a:ln/>
        </p:spPr>
        <p:txBody>
          <a:bodyPr wrap="square" lIns="0" tIns="0" rIns="0" bIns="0" rtlCol="0" anchor="t"/>
          <a:lstStyle/>
          <a:p>
            <a:pPr indent="0" marL="0">
              <a:lnSpc>
                <a:spcPct val="110000"/>
              </a:lnSpc>
              <a:buNone/>
            </a:pPr>
            <a:r>
              <a:rPr lang="en-US" sz="1800" dirty="0">
                <a:solidFill>
                  <a:schemeClr val="tx2"/>
                </a:solidFill>
              </a:rPr>
              <a:t>Each topic is a stop on the trail. The more you get right, the higher your readiness score, and the dashboard always shows the next step.</a:t>
            </a:r>
            <a:endParaRPr lang="en-US" sz="18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445959" y="914400"/>
            <a:ext cx="3931920"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PRACTICE</a:t>
            </a:r>
            <a:endParaRPr lang="en-US" sz="1400" dirty="0"/>
          </a:p>
        </p:txBody>
      </p:sp>
      <p:sp>
        <p:nvSpPr>
          <p:cNvPr id="3" name="Text 0"/>
          <p:cNvSpPr/>
          <p:nvPr>
            <p:ph idx="101" type="title" hasCustomPrompt="1"/>
          </p:nvPr>
        </p:nvSpPr>
        <p:spPr>
          <a:xfrm>
            <a:off x="7445959" y="1280160"/>
            <a:ext cx="3931920" cy="1600200"/>
          </a:xfrm>
          <a:prstGeom prst="rect">
            <a:avLst/>
          </a:prstGeom>
          <a:noFill/>
          <a:ln/>
        </p:spPr>
        <p:txBody>
          <a:bodyPr wrap="square" lIns="0" tIns="0" rIns="0" bIns="0" rtlCol="0" anchor="t"/>
          <a:lstStyle/>
          <a:p>
            <a:pPr algn="l" indent="0" marL="0">
              <a:buNone/>
            </a:pPr>
            <a:r>
              <a:rPr lang="en-US" sz="3200" b="1" dirty="0">
                <a:solidFill>
                  <a:schemeClr val="tx1"/>
                </a:solidFill>
              </a:rPr>
              <a:t>Practice that sticks,</a:t>
            </a:r>
            <a:endParaRPr lang="en-US" sz="3200" dirty="0"/>
          </a:p>
          <a:p>
            <a:pPr algn="l" indent="0" marL="0">
              <a:buNone/>
            </a:pPr>
            <a:r>
              <a:rPr lang="en-US" sz="3200" b="1" dirty="0">
                <a:solidFill>
                  <a:schemeClr val="tx1"/>
                </a:solidFill>
              </a:rPr>
              <a:t>and never runs out</a:t>
            </a:r>
            <a:endParaRPr lang="en-US" sz="3200" dirty="0"/>
          </a:p>
        </p:txBody>
      </p:sp>
      <p:sp>
        <p:nvSpPr>
          <p:cNvPr id="4" name="Text 0"/>
          <p:cNvSpPr/>
          <p:nvPr>
            <p:ph idx="102" type="body" hasCustomPrompt="1"/>
          </p:nvPr>
        </p:nvSpPr>
        <p:spPr>
          <a:xfrm>
            <a:off x="7445959" y="3063240"/>
            <a:ext cx="3931920" cy="3017520"/>
          </a:xfrm>
          <a:prstGeom prst="rect">
            <a:avLst/>
          </a:prstGeom>
          <a:noFill/>
          <a:ln/>
        </p:spPr>
        <p:txBody>
          <a:bodyPr wrap="square" lIns="0" tIns="0" rIns="0" bIns="0" rtlCol="0" anchor="t"/>
          <a:lstStyle/>
          <a:p>
            <a:pPr algn="l" marL="228600" indent="-228600">
              <a:spcAft>
                <a:spcPts val="800"/>
              </a:spcAft>
              <a:buSzPct val="100000"/>
              <a:buChar char="•"/>
            </a:pPr>
            <a:r>
              <a:rPr lang="en-US" sz="1500" dirty="0">
                <a:solidFill>
                  <a:schemeClr val="tx2"/>
                </a:solidFill>
              </a:rPr>
              <a:t>Endless generated questions, each with a worked answer</a:t>
            </a:r>
            <a:endParaRPr lang="en-US" sz="1500" dirty="0"/>
          </a:p>
          <a:p>
            <a:pPr algn="l" marL="228600" indent="-228600">
              <a:spcAft>
                <a:spcPts val="800"/>
              </a:spcAft>
              <a:buSzPct val="100000"/>
              <a:buChar char="•"/>
            </a:pPr>
            <a:r>
              <a:rPr lang="en-US" sz="1500" dirty="0">
                <a:solidFill>
                  <a:schemeClr val="tx2"/>
                </a:solidFill>
              </a:rPr>
              <a:t>Flashcards that come back right before you forget</a:t>
            </a:r>
            <a:endParaRPr lang="en-US" sz="1500" dirty="0"/>
          </a:p>
          <a:p>
            <a:pPr algn="l" marL="228600" indent="-228600">
              <a:spcAft>
                <a:spcPts val="800"/>
              </a:spcAft>
              <a:buSzPct val="100000"/>
              <a:buChar char="•"/>
            </a:pPr>
            <a:r>
              <a:rPr lang="en-US" sz="1500" dirty="0">
                <a:solidFill>
                  <a:schemeClr val="tx2"/>
                </a:solidFill>
              </a:rPr>
              <a:t>A Today plan: ten minutes across every class</a:t>
            </a:r>
            <a:endParaRPr lang="en-US" sz="1500" dirty="0"/>
          </a:p>
          <a:p>
            <a:pPr algn="l" marL="228600" indent="-228600">
              <a:spcAft>
                <a:spcPts val="800"/>
              </a:spcAft>
              <a:buSzPct val="100000"/>
              <a:buChar char="•"/>
            </a:pPr>
            <a:r>
              <a:rPr lang="en-US" sz="1500" dirty="0">
                <a:solidFill>
                  <a:schemeClr val="tx2"/>
                </a:solidFill>
              </a:rPr>
              <a:t>Streaks, XP, quests and weekly leagues</a:t>
            </a:r>
            <a:endParaRPr lang="en-US" sz="1500" dirty="0"/>
          </a:p>
        </p:txBody>
      </p:sp>
      <p:sp>
        <p:nvSpPr>
          <p:cNvPr id="5" name="Flashcards screenshot shadow"/>
          <p:cNvSpPr/>
          <p:nvPr/>
        </p:nvSpPr>
        <p:spPr>
          <a:xfrm>
            <a:off x="813816" y="1471613"/>
            <a:ext cx="6263640" cy="3914775"/>
          </a:xfrm>
          <a:prstGeom prst="roundRect">
            <a:avLst>
              <a:gd name="adj" fmla="val 3270"/>
            </a:avLst>
          </a:prstGeom>
          <a:solidFill>
            <a:schemeClr val="bg1"/>
          </a:solidFill>
          <a:ln/>
          <a:effectLst>
            <a:outerShdw sx="100000" sy="100000" kx="0" ky="0" algn="bl" rotWithShape="0" blurRad="228600" dist="76200" dir="5400000">
              <a:srgbClr val="121A33">
                <a:alpha val="18000"/>
              </a:srgbClr>
            </a:outerShdw>
          </a:effectLst>
        </p:spPr>
      </p:sp>
      <p:pic>
        <p:nvPicPr>
          <p:cNvPr id="6" name="Flashcards screenshot" descr="The Calculus I flashcards page: a card with its box, Again and Got it buttons">    </p:cNvPr>
          <p:cNvPicPr>
            <a:picLocks noChangeAspect="1"/>
          </p:cNvPicPr>
          <p:nvPr/>
        </p:nvPicPr>
        <p:blipFill>
          <a:blip r:embed="rId1"/>
          <a:stretch>
            <a:fillRect/>
          </a:stretch>
        </p:blipFill>
        <p:spPr>
          <a:xfrm>
            <a:off x="813816" y="1471613"/>
            <a:ext cx="6263640" cy="3914775"/>
          </a:xfrm>
          <a:prstGeom prst="rect">
            <a:avLst/>
          </a:prstGeom>
        </p:spPr>
      </p:pic>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3816" y="1691640"/>
            <a:ext cx="6766560" cy="365760"/>
          </a:xfrm>
          <a:prstGeom prst="rect">
            <a:avLst/>
          </a:prstGeom>
          <a:noFill/>
          <a:ln/>
        </p:spPr>
        <p:txBody>
          <a:bodyPr wrap="square" lIns="0" tIns="0" rIns="0" bIns="0" rtlCol="0" anchor="t"/>
          <a:lstStyle/>
          <a:p>
            <a:pPr algn="l" indent="0" marL="0">
              <a:buNone/>
            </a:pPr>
            <a:r>
              <a:rPr lang="en-US" sz="1400" b="1" spc="300" kern="0" dirty="0">
                <a:solidFill>
                  <a:schemeClr val="tx1"/>
                </a:solidFill>
              </a:rPr>
              <a:t>MATHUB MAX</a:t>
            </a:r>
            <a:endParaRPr lang="en-US" sz="1400" dirty="0"/>
          </a:p>
        </p:txBody>
      </p:sp>
      <p:sp>
        <p:nvSpPr>
          <p:cNvPr id="3" name="Text 0"/>
          <p:cNvSpPr/>
          <p:nvPr>
            <p:ph idx="101" type="title" hasCustomPrompt="1"/>
          </p:nvPr>
        </p:nvSpPr>
        <p:spPr>
          <a:xfrm>
            <a:off x="813816" y="2103120"/>
            <a:ext cx="6766560" cy="1234440"/>
          </a:xfrm>
          <a:prstGeom prst="rect">
            <a:avLst/>
          </a:prstGeom>
          <a:noFill/>
          <a:ln/>
        </p:spPr>
        <p:txBody>
          <a:bodyPr wrap="square" lIns="0" tIns="0" rIns="0" bIns="0" rtlCol="0" anchor="t"/>
          <a:lstStyle/>
          <a:p>
            <a:pPr algn="l" indent="0" marL="0">
              <a:buNone/>
            </a:pPr>
            <a:r>
              <a:rPr lang="en-US" sz="8000" b="1" dirty="0">
                <a:solidFill>
                  <a:schemeClr val="tx1"/>
                </a:solidFill>
              </a:rPr>
              <a:t>Meet Bo.</a:t>
            </a:r>
            <a:endParaRPr lang="en-US" sz="8000" dirty="0"/>
          </a:p>
        </p:txBody>
      </p:sp>
      <p:sp>
        <p:nvSpPr>
          <p:cNvPr id="4" name="Text 0"/>
          <p:cNvSpPr/>
          <p:nvPr>
            <p:ph idx="102" type="body" hasCustomPrompt="1"/>
          </p:nvPr>
        </p:nvSpPr>
        <p:spPr>
          <a:xfrm>
            <a:off x="813816" y="3566160"/>
            <a:ext cx="6766560" cy="1737360"/>
          </a:xfrm>
          <a:prstGeom prst="rect">
            <a:avLst/>
          </a:prstGeom>
          <a:noFill/>
          <a:ln/>
        </p:spPr>
        <p:txBody>
          <a:bodyPr wrap="square" lIns="0" tIns="0" rIns="0" bIns="0" rtlCol="0" anchor="t"/>
          <a:lstStyle/>
          <a:p>
            <a:pPr algn="l" indent="0" marL="0">
              <a:lnSpc>
                <a:spcPct val="110000"/>
              </a:lnSpc>
              <a:buNone/>
            </a:pPr>
            <a:r>
              <a:rPr lang="en-US" sz="2400" dirty="0">
                <a:solidFill>
                  <a:schemeClr val="tx1"/>
                </a:solidFill>
              </a:rPr>
              <a:t>An AI tutor who knows your syllabus, your exams and where you’re stuck. In a chat, on a call, and now on every page.</a:t>
            </a:r>
            <a:endParaRPr lang="en-US" sz="2400" dirty="0"/>
          </a:p>
        </p:txBody>
      </p:sp>
      <p:sp>
        <p:nvSpPr>
          <p:cNvPr id="5" name="Bo halo"/>
          <p:cNvSpPr/>
          <p:nvPr/>
        </p:nvSpPr>
        <p:spPr>
          <a:xfrm>
            <a:off x="7452360" y="1234440"/>
            <a:ext cx="4297680" cy="4297680"/>
          </a:xfrm>
          <a:prstGeom prst="ellipse">
            <a:avLst/>
          </a:prstGeom>
          <a:solidFill>
            <a:schemeClr val="bg1">
              <a:alpha val="28000"/>
            </a:schemeClr>
          </a:solidFill>
          <a:ln/>
        </p:spPr>
      </p:sp>
      <p:pic>
        <p:nvPicPr>
          <p:cNvPr id="6" name="Bo" descr="Bo, a bobcat in a purple wizard hat">    </p:cNvPr>
          <p:cNvPicPr>
            <a:picLocks noChangeAspect="1"/>
          </p:cNvPicPr>
          <p:nvPr/>
        </p:nvPicPr>
        <p:blipFill>
          <a:blip r:embed="rId1"/>
          <a:stretch>
            <a:fillRect/>
          </a:stretch>
        </p:blipFill>
        <p:spPr>
          <a:xfrm>
            <a:off x="7680960" y="1463040"/>
            <a:ext cx="3840480" cy="3840480"/>
          </a:xfrm>
          <a:prstGeom prst="rect">
            <a:avLst/>
          </a:prstGeom>
        </p:spPr>
      </p:pic>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NEW THIS WEEK</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lIns="0" tIns="0" rIns="0" bIns="0" rtlCol="0" anchor="t"/>
          <a:lstStyle/>
          <a:p>
            <a:pPr algn="l" indent="0" marL="0">
              <a:buNone/>
            </a:pPr>
            <a:r>
              <a:rPr lang="en-US" sz="3600" b="1" dirty="0">
                <a:solidFill>
                  <a:schemeClr val="tx1"/>
                </a:solidFill>
              </a:rPr>
              <a:t>Bo is on every page</a:t>
            </a:r>
            <a:endParaRPr lang="en-US" sz="3600" dirty="0"/>
          </a:p>
        </p:txBody>
      </p:sp>
      <p:sp>
        <p:nvSpPr>
          <p:cNvPr id="4" name="Floating Bo screenshot shadow"/>
          <p:cNvSpPr/>
          <p:nvPr/>
        </p:nvSpPr>
        <p:spPr>
          <a:xfrm>
            <a:off x="813816" y="2377440"/>
            <a:ext cx="6035040" cy="3771900"/>
          </a:xfrm>
          <a:prstGeom prst="roundRect">
            <a:avLst>
              <a:gd name="adj" fmla="val 3394"/>
            </a:avLst>
          </a:prstGeom>
          <a:solidFill>
            <a:schemeClr val="bg1"/>
          </a:solidFill>
          <a:ln/>
          <a:effectLst>
            <a:outerShdw sx="100000" sy="100000" kx="0" ky="0" algn="bl" rotWithShape="0" blurRad="228600" dist="76200" dir="5400000">
              <a:srgbClr val="121A33">
                <a:alpha val="18000"/>
              </a:srgbClr>
            </a:outerShdw>
          </a:effectLst>
        </p:spPr>
      </p:sp>
      <p:pic>
        <p:nvPicPr>
          <p:cNvPr id="5" name="Floating Bo screenshot" descr="The Calculus I Quizzer with Bo’s panel open: Bo sees Calc I › Quizzer · 10 questions, with a chip for each question">    </p:cNvPr>
          <p:cNvPicPr>
            <a:picLocks noChangeAspect="1"/>
          </p:cNvPicPr>
          <p:nvPr/>
        </p:nvPicPr>
        <p:blipFill>
          <a:blip r:embed="rId1"/>
          <a:stretch>
            <a:fillRect/>
          </a:stretch>
        </p:blipFill>
        <p:spPr>
          <a:xfrm>
            <a:off x="813816" y="2377440"/>
            <a:ext cx="6035040" cy="3771900"/>
          </a:xfrm>
          <a:prstGeom prst="rect">
            <a:avLst/>
          </a:prstGeom>
        </p:spPr>
      </p:pic>
      <p:sp>
        <p:nvSpPr>
          <p:cNvPr id="6" name="He reads the page disc"/>
          <p:cNvSpPr/>
          <p:nvPr/>
        </p:nvSpPr>
        <p:spPr>
          <a:xfrm>
            <a:off x="7306056" y="2377440"/>
            <a:ext cx="502920" cy="502920"/>
          </a:xfrm>
          <a:prstGeom prst="ellipse">
            <a:avLst/>
          </a:prstGeom>
          <a:solidFill>
            <a:schemeClr val="bg1"/>
          </a:solidFill>
          <a:ln/>
        </p:spPr>
      </p:sp>
      <p:pic>
        <p:nvPicPr>
          <p:cNvPr id="7" name="He reads the page icon" descr="preencoded.png">    </p:cNvPr>
          <p:cNvPicPr>
            <a:picLocks noChangeAspect="1"/>
          </p:cNvPicPr>
          <p:nvPr/>
        </p:nvPicPr>
        <p:blipFill>
          <a:blip r:embed="rId2"/>
          <a:stretch>
            <a:fillRect/>
          </a:stretch>
        </p:blipFill>
        <p:spPr>
          <a:xfrm>
            <a:off x="7431786" y="2503170"/>
            <a:ext cx="251460" cy="251460"/>
          </a:xfrm>
          <a:prstGeom prst="rect">
            <a:avLst/>
          </a:prstGeom>
        </p:spPr>
      </p:pic>
      <p:sp>
        <p:nvSpPr>
          <p:cNvPr id="8" name="Text 4"/>
          <p:cNvSpPr txBox="1"/>
          <p:nvPr/>
        </p:nvSpPr>
        <p:spPr>
          <a:xfrm>
            <a:off x="7946136" y="2377440"/>
            <a:ext cx="3431743" cy="320040"/>
          </a:xfrm>
          <a:prstGeom prst="rect">
            <a:avLst/>
          </a:prstGeom>
          <a:noFill/>
          <a:ln/>
        </p:spPr>
        <p:txBody>
          <a:bodyPr wrap="square" lIns="0" tIns="0" rIns="0" bIns="0" rtlCol="0" anchor="t"/>
          <a:lstStyle/>
          <a:p>
            <a:pPr indent="0" marL="0">
              <a:buNone/>
            </a:pPr>
            <a:r>
              <a:rPr lang="en-US" sz="1600" b="1" dirty="0">
                <a:solidFill>
                  <a:schemeClr val="accent1"/>
                </a:solidFill>
                <a:latin typeface="Arial" pitchFamily="34" charset="0"/>
                <a:ea typeface="Arial" pitchFamily="34" charset="-122"/>
                <a:cs typeface="Arial" pitchFamily="34" charset="-120"/>
              </a:rPr>
              <a:t>He reads the page</a:t>
            </a:r>
            <a:endParaRPr lang="en-US" sz="1600" dirty="0"/>
          </a:p>
        </p:txBody>
      </p:sp>
      <p:sp>
        <p:nvSpPr>
          <p:cNvPr id="9" name="Text 5"/>
          <p:cNvSpPr txBox="1"/>
          <p:nvPr/>
        </p:nvSpPr>
        <p:spPr>
          <a:xfrm>
            <a:off x="7946136" y="2724912"/>
            <a:ext cx="3431743" cy="502920"/>
          </a:xfrm>
          <a:prstGeom prst="rect">
            <a:avLst/>
          </a:prstGeom>
          <a:noFill/>
          <a:ln/>
        </p:spPr>
        <p:txBody>
          <a:bodyPr wrap="square" lIns="0" tIns="0" rIns="0" bIns="0" rtlCol="0" anchor="t"/>
          <a:lstStyle/>
          <a:p>
            <a:pPr indent="0" marL="0">
              <a:buNone/>
            </a:pPr>
            <a:r>
              <a:rPr lang="en-US" sz="1400" dirty="0">
                <a:solidFill>
                  <a:schemeClr val="tx2"/>
                </a:solidFill>
              </a:rPr>
              <a:t>The questions by number, your answers, right or wrong</a:t>
            </a:r>
            <a:endParaRPr lang="en-US" sz="1400" dirty="0"/>
          </a:p>
        </p:txBody>
      </p:sp>
      <p:sp>
        <p:nvSpPr>
          <p:cNvPr id="10" name="Tap Q3 disc"/>
          <p:cNvSpPr/>
          <p:nvPr/>
        </p:nvSpPr>
        <p:spPr>
          <a:xfrm>
            <a:off x="7306056" y="3319272"/>
            <a:ext cx="502920" cy="502920"/>
          </a:xfrm>
          <a:prstGeom prst="ellipse">
            <a:avLst/>
          </a:prstGeom>
          <a:solidFill>
            <a:schemeClr val="bg1"/>
          </a:solidFill>
          <a:ln/>
        </p:spPr>
      </p:sp>
      <p:pic>
        <p:nvPicPr>
          <p:cNvPr id="11" name="Tap Q3 icon" descr="preencoded.png">    </p:cNvPr>
          <p:cNvPicPr>
            <a:picLocks noChangeAspect="1"/>
          </p:cNvPicPr>
          <p:nvPr/>
        </p:nvPicPr>
        <p:blipFill>
          <a:blip r:embed="rId3"/>
          <a:stretch>
            <a:fillRect/>
          </a:stretch>
        </p:blipFill>
        <p:spPr>
          <a:xfrm>
            <a:off x="7431786" y="3445002"/>
            <a:ext cx="251460" cy="251460"/>
          </a:xfrm>
          <a:prstGeom prst="rect">
            <a:avLst/>
          </a:prstGeom>
        </p:spPr>
      </p:pic>
      <p:sp>
        <p:nvSpPr>
          <p:cNvPr id="12" name="Text 7"/>
          <p:cNvSpPr txBox="1"/>
          <p:nvPr/>
        </p:nvSpPr>
        <p:spPr>
          <a:xfrm>
            <a:off x="7946136" y="3319272"/>
            <a:ext cx="3431743" cy="320040"/>
          </a:xfrm>
          <a:prstGeom prst="rect">
            <a:avLst/>
          </a:prstGeom>
          <a:noFill/>
          <a:ln/>
        </p:spPr>
        <p:txBody>
          <a:bodyPr wrap="square" lIns="0" tIns="0" rIns="0" bIns="0" rtlCol="0" anchor="t"/>
          <a:lstStyle/>
          <a:p>
            <a:pPr indent="0" marL="0">
              <a:buNone/>
            </a:pPr>
            <a:r>
              <a:rPr lang="en-US" sz="1600" b="1" dirty="0">
                <a:solidFill>
                  <a:schemeClr val="accent1"/>
                </a:solidFill>
                <a:latin typeface="Arial" pitchFamily="34" charset="0"/>
                <a:ea typeface="Arial" pitchFamily="34" charset="-122"/>
                <a:cs typeface="Arial" pitchFamily="34" charset="-120"/>
              </a:rPr>
              <a:t>Tap Q3</a:t>
            </a:r>
            <a:endParaRPr lang="en-US" sz="1600" dirty="0"/>
          </a:p>
        </p:txBody>
      </p:sp>
      <p:sp>
        <p:nvSpPr>
          <p:cNvPr id="13" name="Text 8"/>
          <p:cNvSpPr txBox="1"/>
          <p:nvPr/>
        </p:nvSpPr>
        <p:spPr>
          <a:xfrm>
            <a:off x="7946136" y="3666744"/>
            <a:ext cx="3431743" cy="502920"/>
          </a:xfrm>
          <a:prstGeom prst="rect">
            <a:avLst/>
          </a:prstGeom>
          <a:noFill/>
          <a:ln/>
        </p:spPr>
        <p:txBody>
          <a:bodyPr wrap="square" lIns="0" tIns="0" rIns="0" bIns="0" rtlCol="0" anchor="t"/>
          <a:lstStyle/>
          <a:p>
            <a:pPr indent="0" marL="0">
              <a:buNone/>
            </a:pPr>
            <a:r>
              <a:rPr lang="en-US" sz="1400" dirty="0">
                <a:solidFill>
                  <a:schemeClr val="tx2"/>
                </a:solidFill>
              </a:rPr>
              <a:t>He walks you through it, a hint before the answer</a:t>
            </a:r>
            <a:endParaRPr lang="en-US" sz="1400" dirty="0"/>
          </a:p>
        </p:txBody>
      </p:sp>
      <p:sp>
        <p:nvSpPr>
          <p:cNvPr id="14" name="Point or select disc"/>
          <p:cNvSpPr/>
          <p:nvPr/>
        </p:nvSpPr>
        <p:spPr>
          <a:xfrm>
            <a:off x="7306056" y="4261104"/>
            <a:ext cx="502920" cy="502920"/>
          </a:xfrm>
          <a:prstGeom prst="ellipse">
            <a:avLst/>
          </a:prstGeom>
          <a:solidFill>
            <a:schemeClr val="bg1"/>
          </a:solidFill>
          <a:ln/>
        </p:spPr>
      </p:sp>
      <p:pic>
        <p:nvPicPr>
          <p:cNvPr id="15" name="Point or select icon" descr="preencoded.png">    </p:cNvPr>
          <p:cNvPicPr>
            <a:picLocks noChangeAspect="1"/>
          </p:cNvPicPr>
          <p:nvPr/>
        </p:nvPicPr>
        <p:blipFill>
          <a:blip r:embed="rId4"/>
          <a:stretch>
            <a:fillRect/>
          </a:stretch>
        </p:blipFill>
        <p:spPr>
          <a:xfrm>
            <a:off x="7431786" y="4386834"/>
            <a:ext cx="251460" cy="251460"/>
          </a:xfrm>
          <a:prstGeom prst="rect">
            <a:avLst/>
          </a:prstGeom>
        </p:spPr>
      </p:pic>
      <p:sp>
        <p:nvSpPr>
          <p:cNvPr id="16" name="Text 10"/>
          <p:cNvSpPr txBox="1"/>
          <p:nvPr/>
        </p:nvSpPr>
        <p:spPr>
          <a:xfrm>
            <a:off x="7946136" y="4261104"/>
            <a:ext cx="3431743" cy="320040"/>
          </a:xfrm>
          <a:prstGeom prst="rect">
            <a:avLst/>
          </a:prstGeom>
          <a:noFill/>
          <a:ln/>
        </p:spPr>
        <p:txBody>
          <a:bodyPr wrap="square" lIns="0" tIns="0" rIns="0" bIns="0" rtlCol="0" anchor="t"/>
          <a:lstStyle/>
          <a:p>
            <a:pPr indent="0" marL="0">
              <a:buNone/>
            </a:pPr>
            <a:r>
              <a:rPr lang="en-US" sz="1600" b="1" dirty="0">
                <a:solidFill>
                  <a:schemeClr val="accent1"/>
                </a:solidFill>
                <a:latin typeface="Arial" pitchFamily="34" charset="0"/>
                <a:ea typeface="Arial" pitchFamily="34" charset="-122"/>
                <a:cs typeface="Arial" pitchFamily="34" charset="-120"/>
              </a:rPr>
              <a:t>Point or select</a:t>
            </a:r>
            <a:endParaRPr lang="en-US" sz="1600" dirty="0"/>
          </a:p>
        </p:txBody>
      </p:sp>
      <p:sp>
        <p:nvSpPr>
          <p:cNvPr id="17" name="Text 11"/>
          <p:cNvSpPr txBox="1"/>
          <p:nvPr/>
        </p:nvSpPr>
        <p:spPr>
          <a:xfrm>
            <a:off x="7946136" y="4608576"/>
            <a:ext cx="3431743" cy="502920"/>
          </a:xfrm>
          <a:prstGeom prst="rect">
            <a:avLst/>
          </a:prstGeom>
          <a:noFill/>
          <a:ln/>
        </p:spPr>
        <p:txBody>
          <a:bodyPr wrap="square" lIns="0" tIns="0" rIns="0" bIns="0" rtlCol="0" anchor="t"/>
          <a:lstStyle/>
          <a:p>
            <a:pPr indent="0" marL="0">
              <a:buNone/>
            </a:pPr>
            <a:r>
              <a:rPr lang="en-US" sz="1400" dirty="0">
                <a:solidFill>
                  <a:schemeClr val="tx2"/>
                </a:solidFill>
              </a:rPr>
              <a:t>Tap any part, or highlight text and hit Explain</a:t>
            </a:r>
            <a:endParaRPr lang="en-US" sz="1400" dirty="0"/>
          </a:p>
        </p:txBody>
      </p:sp>
      <p:sp>
        <p:nvSpPr>
          <p:cNvPr id="18" name="Problem sets disc"/>
          <p:cNvSpPr/>
          <p:nvPr/>
        </p:nvSpPr>
        <p:spPr>
          <a:xfrm>
            <a:off x="7306056" y="5202936"/>
            <a:ext cx="502920" cy="502920"/>
          </a:xfrm>
          <a:prstGeom prst="ellipse">
            <a:avLst/>
          </a:prstGeom>
          <a:solidFill>
            <a:schemeClr val="bg1"/>
          </a:solidFill>
          <a:ln/>
        </p:spPr>
      </p:sp>
      <p:pic>
        <p:nvPicPr>
          <p:cNvPr id="19" name="Problem sets icon" descr="preencoded.png">    </p:cNvPr>
          <p:cNvPicPr>
            <a:picLocks noChangeAspect="1"/>
          </p:cNvPicPr>
          <p:nvPr/>
        </p:nvPicPr>
        <p:blipFill>
          <a:blip r:embed="rId5"/>
          <a:stretch>
            <a:fillRect/>
          </a:stretch>
        </p:blipFill>
        <p:spPr>
          <a:xfrm>
            <a:off x="7431786" y="5328666"/>
            <a:ext cx="251460" cy="251460"/>
          </a:xfrm>
          <a:prstGeom prst="rect">
            <a:avLst/>
          </a:prstGeom>
        </p:spPr>
      </p:pic>
      <p:sp>
        <p:nvSpPr>
          <p:cNvPr id="20" name="Text 13"/>
          <p:cNvSpPr txBox="1"/>
          <p:nvPr/>
        </p:nvSpPr>
        <p:spPr>
          <a:xfrm>
            <a:off x="7946136" y="5202936"/>
            <a:ext cx="3431743" cy="320040"/>
          </a:xfrm>
          <a:prstGeom prst="rect">
            <a:avLst/>
          </a:prstGeom>
          <a:noFill/>
          <a:ln/>
        </p:spPr>
        <p:txBody>
          <a:bodyPr wrap="square" lIns="0" tIns="0" rIns="0" bIns="0" rtlCol="0" anchor="t"/>
          <a:lstStyle/>
          <a:p>
            <a:pPr indent="0" marL="0">
              <a:buNone/>
            </a:pPr>
            <a:r>
              <a:rPr lang="en-US" sz="1600" b="1" dirty="0">
                <a:solidFill>
                  <a:schemeClr val="accent1"/>
                </a:solidFill>
                <a:latin typeface="Arial" pitchFamily="34" charset="0"/>
                <a:ea typeface="Arial" pitchFamily="34" charset="-122"/>
                <a:cs typeface="Arial" pitchFamily="34" charset="-120"/>
              </a:rPr>
              <a:t>Problem sets</a:t>
            </a:r>
            <a:endParaRPr lang="en-US" sz="1600" dirty="0"/>
          </a:p>
        </p:txBody>
      </p:sp>
      <p:sp>
        <p:nvSpPr>
          <p:cNvPr id="21" name="Text 14"/>
          <p:cNvSpPr txBox="1"/>
          <p:nvPr/>
        </p:nvSpPr>
        <p:spPr>
          <a:xfrm>
            <a:off x="7946136" y="5550408"/>
            <a:ext cx="3431743" cy="502920"/>
          </a:xfrm>
          <a:prstGeom prst="rect">
            <a:avLst/>
          </a:prstGeom>
          <a:noFill/>
          <a:ln/>
        </p:spPr>
        <p:txBody>
          <a:bodyPr wrap="square" lIns="0" tIns="0" rIns="0" bIns="0" rtlCol="0" anchor="t"/>
          <a:lstStyle/>
          <a:p>
            <a:pPr indent="0" marL="0">
              <a:buNone/>
            </a:pPr>
            <a:r>
              <a:rPr lang="en-US" sz="1400" dirty="0">
                <a:solidFill>
                  <a:schemeClr val="tx2"/>
                </a:solidFill>
              </a:rPr>
              <a:t>Drop in a photo or a PDF</a:t>
            </a:r>
            <a:endParaRPr lang="en-US" sz="14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445959" y="914400"/>
            <a:ext cx="3931920"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BO’S WHITEBOARD</a:t>
            </a:r>
            <a:endParaRPr lang="en-US" sz="1400" dirty="0"/>
          </a:p>
        </p:txBody>
      </p:sp>
      <p:sp>
        <p:nvSpPr>
          <p:cNvPr id="3" name="Text 0"/>
          <p:cNvSpPr/>
          <p:nvPr>
            <p:ph idx="101" type="title" hasCustomPrompt="1"/>
          </p:nvPr>
        </p:nvSpPr>
        <p:spPr>
          <a:xfrm>
            <a:off x="7445959" y="1280160"/>
            <a:ext cx="3931920" cy="1600200"/>
          </a:xfrm>
          <a:prstGeom prst="rect">
            <a:avLst/>
          </a:prstGeom>
          <a:noFill/>
          <a:ln/>
        </p:spPr>
        <p:txBody>
          <a:bodyPr wrap="square" lIns="0" tIns="0" rIns="0" bIns="0" rtlCol="0" anchor="t"/>
          <a:lstStyle/>
          <a:p>
            <a:pPr algn="l" indent="0" marL="0">
              <a:buNone/>
            </a:pPr>
            <a:r>
              <a:rPr lang="en-US" sz="3200" b="1" dirty="0">
                <a:solidFill>
                  <a:schemeClr val="tx1"/>
                </a:solidFill>
              </a:rPr>
              <a:t>He works it out on a board, not in a wall of text</a:t>
            </a:r>
            <a:endParaRPr lang="en-US" sz="3200" dirty="0"/>
          </a:p>
        </p:txBody>
      </p:sp>
      <p:sp>
        <p:nvSpPr>
          <p:cNvPr id="4" name="Text 0"/>
          <p:cNvSpPr/>
          <p:nvPr>
            <p:ph idx="102" type="body" hasCustomPrompt="1"/>
          </p:nvPr>
        </p:nvSpPr>
        <p:spPr>
          <a:xfrm>
            <a:off x="7445959" y="3063240"/>
            <a:ext cx="3931920" cy="3017520"/>
          </a:xfrm>
          <a:prstGeom prst="rect">
            <a:avLst/>
          </a:prstGeom>
          <a:noFill/>
          <a:ln/>
        </p:spPr>
        <p:txBody>
          <a:bodyPr wrap="square" lIns="0" tIns="0" rIns="0" bIns="0" rtlCol="0" anchor="t"/>
          <a:lstStyle/>
          <a:p>
            <a:pPr algn="l" marL="228600" indent="-228600">
              <a:spcAft>
                <a:spcPts val="800"/>
              </a:spcAft>
              <a:buSzPct val="100000"/>
              <a:buChar char="•"/>
            </a:pPr>
            <a:r>
              <a:rPr lang="en-US" sz="1500" dirty="0">
                <a:solidFill>
                  <a:schemeClr val="tx2"/>
                </a:solidFill>
              </a:rPr>
              <a:t>13 kinds of drawings: graphs, tangent lines, Riemann sums, the unit circle, Venn diagrams, normal curves…</a:t>
            </a:r>
            <a:endParaRPr lang="en-US" sz="1500" dirty="0"/>
          </a:p>
          <a:p>
            <a:pPr algn="l" marL="228600" indent="-228600">
              <a:spcAft>
                <a:spcPts val="800"/>
              </a:spcAft>
              <a:buSzPct val="100000"/>
              <a:buChar char="•"/>
            </a:pPr>
            <a:r>
              <a:rPr lang="en-US" sz="1500" dirty="0">
                <a:solidFill>
                  <a:schemeClr val="tx2"/>
                </a:solidFill>
              </a:rPr>
              <a:t>Sliders you drag, and the graph redraws</a:t>
            </a:r>
            <a:endParaRPr lang="en-US" sz="1500" dirty="0"/>
          </a:p>
          <a:p>
            <a:pPr algn="l" marL="228600" indent="-228600">
              <a:spcAft>
                <a:spcPts val="800"/>
              </a:spcAft>
              <a:buSzPct val="100000"/>
              <a:buChar char="•"/>
            </a:pPr>
            <a:r>
              <a:rPr lang="en-US" sz="1500" dirty="0">
                <a:solidFill>
                  <a:schemeClr val="tx2"/>
                </a:solidFill>
              </a:rPr>
              <a:t>A question to answer right on the board, marked at once</a:t>
            </a:r>
            <a:endParaRPr lang="en-US" sz="1500" dirty="0"/>
          </a:p>
        </p:txBody>
      </p:sp>
      <p:sp>
        <p:nvSpPr>
          <p:cNvPr id="5" name="Tangent board shadow"/>
          <p:cNvSpPr/>
          <p:nvPr/>
        </p:nvSpPr>
        <p:spPr>
          <a:xfrm>
            <a:off x="1180948" y="868680"/>
            <a:ext cx="2560320" cy="5120640"/>
          </a:xfrm>
          <a:prstGeom prst="roundRect">
            <a:avLst>
              <a:gd name="adj" fmla="val 4286"/>
            </a:avLst>
          </a:prstGeom>
          <a:solidFill>
            <a:schemeClr val="bg1"/>
          </a:solidFill>
          <a:ln/>
          <a:effectLst>
            <a:outerShdw sx="100000" sy="100000" kx="0" ky="0" algn="bl" rotWithShape="0" blurRad="228600" dist="76200" dir="5400000">
              <a:srgbClr val="121A33">
                <a:alpha val="18000"/>
              </a:srgbClr>
            </a:outerShdw>
          </a:effectLst>
        </p:spPr>
      </p:sp>
      <p:pic>
        <p:nvPicPr>
          <p:cNvPr id="6" name="Tangent board" descr="Bo’s board: the tangent line to y = x² at x = 1 with slope 2, a slider for a, and a question to answer">    </p:cNvPr>
          <p:cNvPicPr>
            <a:picLocks noChangeAspect="1"/>
          </p:cNvPicPr>
          <p:nvPr/>
        </p:nvPicPr>
        <p:blipFill>
          <a:blip r:embed="rId1"/>
          <a:stretch>
            <a:fillRect/>
          </a:stretch>
        </p:blipFill>
        <p:spPr>
          <a:xfrm>
            <a:off x="1180948" y="868680"/>
            <a:ext cx="2560320" cy="5120640"/>
          </a:xfrm>
          <a:prstGeom prst="rect">
            <a:avLst/>
          </a:prstGeom>
        </p:spPr>
      </p:pic>
      <p:sp>
        <p:nvSpPr>
          <p:cNvPr id="7" name="Parabola board shadow"/>
          <p:cNvSpPr/>
          <p:nvPr/>
        </p:nvSpPr>
        <p:spPr>
          <a:xfrm>
            <a:off x="4107028" y="868680"/>
            <a:ext cx="2560320" cy="5120640"/>
          </a:xfrm>
          <a:prstGeom prst="roundRect">
            <a:avLst>
              <a:gd name="adj" fmla="val 4286"/>
            </a:avLst>
          </a:prstGeom>
          <a:solidFill>
            <a:schemeClr val="bg1"/>
          </a:solidFill>
          <a:ln/>
          <a:effectLst>
            <a:outerShdw sx="100000" sy="100000" kx="0" ky="0" algn="bl" rotWithShape="0" blurRad="228600" dist="76200" dir="5400000">
              <a:srgbClr val="121A33">
                <a:alpha val="18000"/>
              </a:srgbClr>
            </a:outerShdw>
          </a:effectLst>
        </p:spPr>
      </p:sp>
      <p:pic>
        <p:nvPicPr>
          <p:cNvPr id="8" name="Parabola board" descr="Bo’s board: the graph of y = x² − 3 with the part below zero shaded, the roots marked, then the steps and the answer">    </p:cNvPr>
          <p:cNvPicPr>
            <a:picLocks noChangeAspect="1"/>
          </p:cNvPicPr>
          <p:nvPr/>
        </p:nvPicPr>
        <p:blipFill>
          <a:blip r:embed="rId2"/>
          <a:stretch>
            <a:fillRect/>
          </a:stretch>
        </p:blipFill>
        <p:spPr>
          <a:xfrm>
            <a:off x="4107028" y="868680"/>
            <a:ext cx="2560320" cy="5120640"/>
          </a:xfrm>
          <a:prstGeom prst="rect">
            <a:avLst/>
          </a:prstGeom>
        </p:spPr>
      </p:pic>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THREE WAYS IN</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lIns="0" tIns="0" rIns="0" bIns="0" rtlCol="0" anchor="t"/>
          <a:lstStyle/>
          <a:p>
            <a:pPr algn="l" indent="0" marL="0">
              <a:buNone/>
            </a:pPr>
            <a:r>
              <a:rPr lang="en-US" sz="3600" b="1" dirty="0">
                <a:solidFill>
                  <a:schemeClr val="tx1"/>
                </a:solidFill>
              </a:rPr>
              <a:t>Chat with him, call him, or let him write the class</a:t>
            </a:r>
            <a:endParaRPr lang="en-US" sz="3600" dirty="0"/>
          </a:p>
        </p:txBody>
      </p:sp>
      <p:sp>
        <p:nvSpPr>
          <p:cNvPr id="4" name="Chat card"/>
          <p:cNvSpPr/>
          <p:nvPr/>
        </p:nvSpPr>
        <p:spPr>
          <a:xfrm>
            <a:off x="813816" y="2606040"/>
            <a:ext cx="3307994" cy="3063240"/>
          </a:xfrm>
          <a:prstGeom prst="roundRect">
            <a:avLst>
              <a:gd name="adj" fmla="val 6567"/>
            </a:avLst>
          </a:prstGeom>
          <a:solidFill>
            <a:schemeClr val="bg1"/>
          </a:solidFill>
          <a:ln w="9525">
            <a:solidFill>
              <a:schemeClr val="accent5"/>
            </a:solidFill>
            <a:prstDash val="solid"/>
          </a:ln>
        </p:spPr>
      </p:sp>
      <p:sp>
        <p:nvSpPr>
          <p:cNvPr id="5" name="Chat disc"/>
          <p:cNvSpPr/>
          <p:nvPr/>
        </p:nvSpPr>
        <p:spPr>
          <a:xfrm>
            <a:off x="1133856" y="2926080"/>
            <a:ext cx="685800" cy="685800"/>
          </a:xfrm>
          <a:prstGeom prst="ellipse">
            <a:avLst/>
          </a:prstGeom>
          <a:solidFill>
            <a:schemeClr val="accent3"/>
          </a:solidFill>
          <a:ln/>
        </p:spPr>
      </p:sp>
      <p:pic>
        <p:nvPicPr>
          <p:cNvPr id="6" name="Chat icon" descr="preencoded.png">    </p:cNvPr>
          <p:cNvPicPr>
            <a:picLocks noChangeAspect="1"/>
          </p:cNvPicPr>
          <p:nvPr/>
        </p:nvPicPr>
        <p:blipFill>
          <a:blip r:embed="rId1"/>
          <a:stretch>
            <a:fillRect/>
          </a:stretch>
        </p:blipFill>
        <p:spPr>
          <a:xfrm>
            <a:off x="1305306" y="3097530"/>
            <a:ext cx="342900" cy="342900"/>
          </a:xfrm>
          <a:prstGeom prst="rect">
            <a:avLst/>
          </a:prstGeom>
        </p:spPr>
      </p:pic>
      <p:sp>
        <p:nvSpPr>
          <p:cNvPr id="7" name="Text 4"/>
          <p:cNvSpPr txBox="1"/>
          <p:nvPr/>
        </p:nvSpPr>
        <p:spPr>
          <a:xfrm>
            <a:off x="1133856" y="3794760"/>
            <a:ext cx="2667914"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Chat</a:t>
            </a:r>
            <a:endParaRPr lang="en-US" sz="2000" dirty="0"/>
          </a:p>
        </p:txBody>
      </p:sp>
      <p:sp>
        <p:nvSpPr>
          <p:cNvPr id="8" name="Text 5"/>
          <p:cNvSpPr txBox="1"/>
          <p:nvPr/>
        </p:nvSpPr>
        <p:spPr>
          <a:xfrm>
            <a:off x="1133856" y="4343400"/>
            <a:ext cx="2667914" cy="105156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Ask anything, snap a photo of a problem. Answers stream in with board pages, then one tap to go on.</a:t>
            </a:r>
            <a:endParaRPr lang="en-US" sz="1500" dirty="0"/>
          </a:p>
        </p:txBody>
      </p:sp>
      <p:sp>
        <p:nvSpPr>
          <p:cNvPr id="9" name="Call card"/>
          <p:cNvSpPr/>
          <p:nvPr/>
        </p:nvSpPr>
        <p:spPr>
          <a:xfrm>
            <a:off x="4441850" y="2606040"/>
            <a:ext cx="3307994" cy="3063240"/>
          </a:xfrm>
          <a:prstGeom prst="roundRect">
            <a:avLst>
              <a:gd name="adj" fmla="val 6567"/>
            </a:avLst>
          </a:prstGeom>
          <a:solidFill>
            <a:schemeClr val="bg1"/>
          </a:solidFill>
          <a:ln w="9525">
            <a:solidFill>
              <a:schemeClr val="accent5"/>
            </a:solidFill>
            <a:prstDash val="solid"/>
          </a:ln>
        </p:spPr>
      </p:sp>
      <p:sp>
        <p:nvSpPr>
          <p:cNvPr id="10" name="Call disc"/>
          <p:cNvSpPr/>
          <p:nvPr/>
        </p:nvSpPr>
        <p:spPr>
          <a:xfrm>
            <a:off x="4761890" y="2926080"/>
            <a:ext cx="685800" cy="685800"/>
          </a:xfrm>
          <a:prstGeom prst="ellipse">
            <a:avLst/>
          </a:prstGeom>
          <a:solidFill>
            <a:schemeClr val="accent3"/>
          </a:solidFill>
          <a:ln/>
        </p:spPr>
      </p:sp>
      <p:pic>
        <p:nvPicPr>
          <p:cNvPr id="11" name="Call icon" descr="preencoded.png">    </p:cNvPr>
          <p:cNvPicPr>
            <a:picLocks noChangeAspect="1"/>
          </p:cNvPicPr>
          <p:nvPr/>
        </p:nvPicPr>
        <p:blipFill>
          <a:blip r:embed="rId2"/>
          <a:stretch>
            <a:fillRect/>
          </a:stretch>
        </p:blipFill>
        <p:spPr>
          <a:xfrm>
            <a:off x="4933340" y="3097530"/>
            <a:ext cx="342900" cy="342900"/>
          </a:xfrm>
          <a:prstGeom prst="rect">
            <a:avLst/>
          </a:prstGeom>
        </p:spPr>
      </p:pic>
      <p:sp>
        <p:nvSpPr>
          <p:cNvPr id="12" name="Text 8"/>
          <p:cNvSpPr txBox="1"/>
          <p:nvPr/>
        </p:nvSpPr>
        <p:spPr>
          <a:xfrm>
            <a:off x="4761890" y="3794760"/>
            <a:ext cx="2667914"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Call</a:t>
            </a:r>
            <a:endParaRPr lang="en-US" sz="2000" dirty="0"/>
          </a:p>
        </p:txBody>
      </p:sp>
      <p:sp>
        <p:nvSpPr>
          <p:cNvPr id="13" name="Text 9"/>
          <p:cNvSpPr txBox="1"/>
          <p:nvPr/>
        </p:nvSpPr>
        <p:spPr>
          <a:xfrm>
            <a:off x="4761890" y="4343400"/>
            <a:ext cx="2667914" cy="105156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Talk out loud. He answers in about half a second, lets you cut in, and draws while he talks.</a:t>
            </a:r>
            <a:endParaRPr lang="en-US" sz="1500" dirty="0"/>
          </a:p>
        </p:txBody>
      </p:sp>
      <p:sp>
        <p:nvSpPr>
          <p:cNvPr id="14" name="Write a class card"/>
          <p:cNvSpPr/>
          <p:nvPr/>
        </p:nvSpPr>
        <p:spPr>
          <a:xfrm>
            <a:off x="8069885" y="2606040"/>
            <a:ext cx="3307994" cy="3063240"/>
          </a:xfrm>
          <a:prstGeom prst="roundRect">
            <a:avLst>
              <a:gd name="adj" fmla="val 6567"/>
            </a:avLst>
          </a:prstGeom>
          <a:solidFill>
            <a:schemeClr val="tx1"/>
          </a:solidFill>
          <a:ln/>
        </p:spPr>
      </p:sp>
      <p:sp>
        <p:nvSpPr>
          <p:cNvPr id="15" name="Write a class disc"/>
          <p:cNvSpPr/>
          <p:nvPr/>
        </p:nvSpPr>
        <p:spPr>
          <a:xfrm>
            <a:off x="8389925" y="2926080"/>
            <a:ext cx="685800" cy="685800"/>
          </a:xfrm>
          <a:prstGeom prst="ellipse">
            <a:avLst/>
          </a:prstGeom>
          <a:solidFill>
            <a:schemeClr val="accent4"/>
          </a:solidFill>
          <a:ln/>
        </p:spPr>
      </p:sp>
      <p:pic>
        <p:nvPicPr>
          <p:cNvPr id="16" name="Write a class icon" descr="preencoded.png">    </p:cNvPr>
          <p:cNvPicPr>
            <a:picLocks noChangeAspect="1"/>
          </p:cNvPicPr>
          <p:nvPr/>
        </p:nvPicPr>
        <p:blipFill>
          <a:blip r:embed="rId3"/>
          <a:stretch>
            <a:fillRect/>
          </a:stretch>
        </p:blipFill>
        <p:spPr>
          <a:xfrm>
            <a:off x="8561375" y="3097530"/>
            <a:ext cx="342900" cy="342900"/>
          </a:xfrm>
          <a:prstGeom prst="rect">
            <a:avLst/>
          </a:prstGeom>
        </p:spPr>
      </p:pic>
      <p:sp>
        <p:nvSpPr>
          <p:cNvPr id="17" name="Text 12"/>
          <p:cNvSpPr txBox="1"/>
          <p:nvPr/>
        </p:nvSpPr>
        <p:spPr>
          <a:xfrm>
            <a:off x="8389925" y="3794760"/>
            <a:ext cx="2667914" cy="457200"/>
          </a:xfrm>
          <a:prstGeom prst="rect">
            <a:avLst/>
          </a:prstGeom>
          <a:noFill/>
          <a:ln/>
        </p:spPr>
        <p:txBody>
          <a:bodyPr wrap="square" lIns="0" tIns="0" rIns="0" bIns="0" rtlCol="0" anchor="t"/>
          <a:lstStyle/>
          <a:p>
            <a:pPr indent="0" marL="0">
              <a:buNone/>
            </a:pPr>
            <a:r>
              <a:rPr lang="en-US" sz="2000" b="1" dirty="0">
                <a:solidFill>
                  <a:schemeClr val="bg2"/>
                </a:solidFill>
                <a:latin typeface="Arial" pitchFamily="34" charset="0"/>
                <a:ea typeface="Arial" pitchFamily="34" charset="-122"/>
                <a:cs typeface="Arial" pitchFamily="34" charset="-120"/>
              </a:rPr>
              <a:t>Write a class</a:t>
            </a:r>
            <a:endParaRPr lang="en-US" sz="2000" dirty="0"/>
          </a:p>
        </p:txBody>
      </p:sp>
      <p:sp>
        <p:nvSpPr>
          <p:cNvPr id="18" name="Text 13"/>
          <p:cNvSpPr txBox="1"/>
          <p:nvPr/>
        </p:nvSpPr>
        <p:spPr>
          <a:xfrm>
            <a:off x="8389925" y="4343400"/>
            <a:ext cx="2667914" cy="1051560"/>
          </a:xfrm>
          <a:prstGeom prst="rect">
            <a:avLst/>
          </a:prstGeom>
          <a:noFill/>
          <a:ln/>
        </p:spPr>
        <p:txBody>
          <a:bodyPr wrap="square" lIns="0" tIns="0" rIns="0" bIns="0" rtlCol="0" anchor="t"/>
          <a:lstStyle/>
          <a:p>
            <a:pPr indent="0" marL="0">
              <a:lnSpc>
                <a:spcPct val="110000"/>
              </a:lnSpc>
              <a:buNone/>
            </a:pPr>
            <a:r>
              <a:rPr lang="en-US" sz="1500" dirty="0">
                <a:solidFill>
                  <a:schemeClr val="accent5"/>
                </a:solidFill>
              </a:rPr>
              <a:t>Taking something Mathub doesn’t have? Drop in its syllabus: notes, practice, flashcards and the calendar in a minute or two.</a:t>
            </a:r>
            <a:endParaRPr lang="en-US" sz="15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LANGUAGES</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lIns="0" tIns="0" rIns="0" bIns="0" rtlCol="0" anchor="t"/>
          <a:lstStyle/>
          <a:p>
            <a:pPr algn="l" indent="0" marL="0">
              <a:buNone/>
            </a:pPr>
            <a:r>
              <a:rPr lang="en-US" sz="3600" b="1" dirty="0">
                <a:solidFill>
                  <a:schemeClr val="tx1"/>
                </a:solidFill>
              </a:rPr>
              <a:t>English, Español, Русский</a:t>
            </a:r>
            <a:endParaRPr lang="en-US" sz="3600" dirty="0"/>
          </a:p>
        </p:txBody>
      </p:sp>
      <p:sp>
        <p:nvSpPr>
          <p:cNvPr id="4" name="Spanish screenshot shadow"/>
          <p:cNvSpPr/>
          <p:nvPr/>
        </p:nvSpPr>
        <p:spPr>
          <a:xfrm>
            <a:off x="813816" y="2331720"/>
            <a:ext cx="5099152" cy="3186970"/>
          </a:xfrm>
          <a:prstGeom prst="roundRect">
            <a:avLst>
              <a:gd name="adj" fmla="val 4017"/>
            </a:avLst>
          </a:prstGeom>
          <a:solidFill>
            <a:schemeClr val="bg1"/>
          </a:solidFill>
          <a:ln/>
          <a:effectLst>
            <a:outerShdw sx="100000" sy="100000" kx="0" ky="0" algn="bl" rotWithShape="0" blurRad="228600" dist="76200" dir="5400000">
              <a:srgbClr val="121A33">
                <a:alpha val="18000"/>
              </a:srgbClr>
            </a:outerShdw>
          </a:effectLst>
        </p:spPr>
      </p:sp>
      <p:pic>
        <p:nvPicPr>
          <p:cNvPr id="5" name="Spanish screenshot" descr="The Calculus I dashboard in Spanish: 3 días para Examen 2">    </p:cNvPr>
          <p:cNvPicPr>
            <a:picLocks noChangeAspect="1"/>
          </p:cNvPicPr>
          <p:nvPr/>
        </p:nvPicPr>
        <p:blipFill>
          <a:blip r:embed="rId1"/>
          <a:stretch>
            <a:fillRect/>
          </a:stretch>
        </p:blipFill>
        <p:spPr>
          <a:xfrm>
            <a:off x="813816" y="2331720"/>
            <a:ext cx="5099152" cy="3186970"/>
          </a:xfrm>
          <a:prstGeom prst="rect">
            <a:avLst/>
          </a:prstGeom>
        </p:spPr>
      </p:pic>
      <p:sp>
        <p:nvSpPr>
          <p:cNvPr id="6" name="Russian screenshot shadow"/>
          <p:cNvSpPr/>
          <p:nvPr/>
        </p:nvSpPr>
        <p:spPr>
          <a:xfrm>
            <a:off x="6278728" y="2331720"/>
            <a:ext cx="5099152" cy="3186970"/>
          </a:xfrm>
          <a:prstGeom prst="roundRect">
            <a:avLst>
              <a:gd name="adj" fmla="val 4017"/>
            </a:avLst>
          </a:prstGeom>
          <a:solidFill>
            <a:schemeClr val="bg1"/>
          </a:solidFill>
          <a:ln/>
          <a:effectLst>
            <a:outerShdw sx="100000" sy="100000" kx="0" ky="0" algn="bl" rotWithShape="0" blurRad="228600" dist="76200" dir="5400000">
              <a:srgbClr val="121A33">
                <a:alpha val="18000"/>
              </a:srgbClr>
            </a:outerShdw>
          </a:effectLst>
        </p:spPr>
      </p:sp>
      <p:pic>
        <p:nvPicPr>
          <p:cNvPr id="7" name="Russian screenshot" descr="The Calculus I dashboard in Russian">    </p:cNvPr>
          <p:cNvPicPr>
            <a:picLocks noChangeAspect="1"/>
          </p:cNvPicPr>
          <p:nvPr/>
        </p:nvPicPr>
        <p:blipFill>
          <a:blip r:embed="rId2"/>
          <a:stretch>
            <a:fillRect/>
          </a:stretch>
        </p:blipFill>
        <p:spPr>
          <a:xfrm>
            <a:off x="6278728" y="2331720"/>
            <a:ext cx="5099152" cy="3186970"/>
          </a:xfrm>
          <a:prstGeom prst="rect">
            <a:avLst/>
          </a:prstGeom>
        </p:spPr>
      </p:pic>
      <p:sp>
        <p:nvSpPr>
          <p:cNvPr id="8" name="Text 4"/>
          <p:cNvSpPr txBox="1"/>
          <p:nvPr/>
        </p:nvSpPr>
        <p:spPr>
          <a:xfrm>
            <a:off x="813816" y="5793010"/>
            <a:ext cx="10564063" cy="685800"/>
          </a:xfrm>
          <a:prstGeom prst="rect">
            <a:avLst/>
          </a:prstGeom>
          <a:noFill/>
          <a:ln/>
        </p:spPr>
        <p:txBody>
          <a:bodyPr wrap="square" lIns="0" tIns="0" rIns="0" bIns="0" rtlCol="0" anchor="t"/>
          <a:lstStyle/>
          <a:p>
            <a:pPr indent="0" marL="0">
              <a:lnSpc>
                <a:spcPct val="110000"/>
              </a:lnSpc>
              <a:buNone/>
            </a:pPr>
            <a:r>
              <a:rPr lang="en-US" sz="1800" dirty="0">
                <a:solidFill>
                  <a:schemeClr val="tx2"/>
                </a:solidFill>
              </a:rPr>
              <a:t>Pick a language at the foot of any page. Bo answers in it too, and gives the English term in brackets, because the exams are in English.</a:t>
            </a:r>
            <a:endParaRPr lang="en-US" sz="18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lIns="0" tIns="0" rIns="0" bIns="0" rtlCol="0" anchor="t"/>
          <a:lstStyle/>
          <a:p>
            <a:pPr algn="l" indent="0" marL="0">
              <a:buNone/>
            </a:pPr>
            <a:r>
              <a:rPr lang="en-US" sz="1400" b="1" spc="300" kern="0" dirty="0">
                <a:solidFill>
                  <a:schemeClr val="accent6"/>
                </a:solidFill>
              </a:rPr>
              <a:t>HOW IT’S BUILT</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lIns="0" tIns="0" rIns="0" bIns="0" rtlCol="0" anchor="t"/>
          <a:lstStyle/>
          <a:p>
            <a:pPr algn="l" indent="0" marL="0">
              <a:buNone/>
            </a:pPr>
            <a:r>
              <a:rPr lang="en-US" sz="3600" b="1" dirty="0">
                <a:solidFill>
                  <a:schemeClr val="bg2"/>
                </a:solidFill>
              </a:rPr>
              <a:t>Under the hood</a:t>
            </a:r>
            <a:endParaRPr lang="en-US" sz="3600" dirty="0"/>
          </a:p>
        </p:txBody>
      </p:sp>
      <p:sp>
        <p:nvSpPr>
          <p:cNvPr id="4" name="Front end card"/>
          <p:cNvSpPr/>
          <p:nvPr/>
        </p:nvSpPr>
        <p:spPr>
          <a:xfrm>
            <a:off x="813816" y="2423160"/>
            <a:ext cx="3307994" cy="1783080"/>
          </a:xfrm>
          <a:prstGeom prst="roundRect">
            <a:avLst>
              <a:gd name="adj" fmla="val 11282"/>
            </a:avLst>
          </a:prstGeom>
          <a:solidFill>
            <a:schemeClr val="accent4"/>
          </a:solidFill>
          <a:ln/>
        </p:spPr>
      </p:sp>
      <p:sp>
        <p:nvSpPr>
          <p:cNvPr id="5" name="Front end disc"/>
          <p:cNvSpPr/>
          <p:nvPr/>
        </p:nvSpPr>
        <p:spPr>
          <a:xfrm>
            <a:off x="1088136" y="2697480"/>
            <a:ext cx="502920" cy="502920"/>
          </a:xfrm>
          <a:prstGeom prst="ellipse">
            <a:avLst/>
          </a:prstGeom>
          <a:solidFill>
            <a:schemeClr val="tx1"/>
          </a:solidFill>
          <a:ln/>
        </p:spPr>
      </p:sp>
      <p:pic>
        <p:nvPicPr>
          <p:cNvPr id="6" name="Front end icon" descr="preencoded.png">    </p:cNvPr>
          <p:cNvPicPr>
            <a:picLocks noChangeAspect="1"/>
          </p:cNvPicPr>
          <p:nvPr/>
        </p:nvPicPr>
        <p:blipFill>
          <a:blip r:embed="rId1"/>
          <a:stretch>
            <a:fillRect/>
          </a:stretch>
        </p:blipFill>
        <p:spPr>
          <a:xfrm>
            <a:off x="1213866" y="2823210"/>
            <a:ext cx="251460" cy="251460"/>
          </a:xfrm>
          <a:prstGeom prst="rect">
            <a:avLst/>
          </a:prstGeom>
        </p:spPr>
      </p:pic>
      <p:sp>
        <p:nvSpPr>
          <p:cNvPr id="7" name="Text 4"/>
          <p:cNvSpPr txBox="1"/>
          <p:nvPr/>
        </p:nvSpPr>
        <p:spPr>
          <a:xfrm>
            <a:off x="1728216" y="2770632"/>
            <a:ext cx="2119274" cy="36576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Front end</a:t>
            </a:r>
            <a:endParaRPr lang="en-US" sz="1700" dirty="0"/>
          </a:p>
        </p:txBody>
      </p:sp>
      <p:sp>
        <p:nvSpPr>
          <p:cNvPr id="8" name="Text 5"/>
          <p:cNvSpPr txBox="1"/>
          <p:nvPr/>
        </p:nvSpPr>
        <p:spPr>
          <a:xfrm>
            <a:off x="1088136" y="3337560"/>
            <a:ext cx="2759354" cy="594360"/>
          </a:xfrm>
          <a:prstGeom prst="rect">
            <a:avLst/>
          </a:prstGeom>
          <a:noFill/>
          <a:ln/>
        </p:spPr>
        <p:txBody>
          <a:bodyPr wrap="square" lIns="0" tIns="0" rIns="0" bIns="0" rtlCol="0" anchor="t"/>
          <a:lstStyle/>
          <a:p>
            <a:pPr indent="0" marL="0">
              <a:buNone/>
            </a:pPr>
            <a:r>
              <a:rPr lang="en-US" sz="1400" dirty="0">
                <a:solidFill>
                  <a:schemeClr val="accent5"/>
                </a:solidFill>
              </a:rPr>
              <a:t>Plain JavaScript, no framework. Works offline. MathJax for math, Python running in the browser.</a:t>
            </a:r>
            <a:endParaRPr lang="en-US" sz="1400" dirty="0"/>
          </a:p>
        </p:txBody>
      </p:sp>
      <p:sp>
        <p:nvSpPr>
          <p:cNvPr id="9" name="Server card"/>
          <p:cNvSpPr/>
          <p:nvPr/>
        </p:nvSpPr>
        <p:spPr>
          <a:xfrm>
            <a:off x="4441850" y="2423160"/>
            <a:ext cx="3307994" cy="1783080"/>
          </a:xfrm>
          <a:prstGeom prst="roundRect">
            <a:avLst>
              <a:gd name="adj" fmla="val 11282"/>
            </a:avLst>
          </a:prstGeom>
          <a:solidFill>
            <a:schemeClr val="accent4"/>
          </a:solidFill>
          <a:ln/>
        </p:spPr>
      </p:sp>
      <p:sp>
        <p:nvSpPr>
          <p:cNvPr id="10" name="Server disc"/>
          <p:cNvSpPr/>
          <p:nvPr/>
        </p:nvSpPr>
        <p:spPr>
          <a:xfrm>
            <a:off x="4716170" y="2697480"/>
            <a:ext cx="502920" cy="502920"/>
          </a:xfrm>
          <a:prstGeom prst="ellipse">
            <a:avLst/>
          </a:prstGeom>
          <a:solidFill>
            <a:schemeClr val="tx1"/>
          </a:solidFill>
          <a:ln/>
        </p:spPr>
      </p:sp>
      <p:pic>
        <p:nvPicPr>
          <p:cNvPr id="11" name="Server icon" descr="preencoded.png">    </p:cNvPr>
          <p:cNvPicPr>
            <a:picLocks noChangeAspect="1"/>
          </p:cNvPicPr>
          <p:nvPr/>
        </p:nvPicPr>
        <p:blipFill>
          <a:blip r:embed="rId2"/>
          <a:stretch>
            <a:fillRect/>
          </a:stretch>
        </p:blipFill>
        <p:spPr>
          <a:xfrm>
            <a:off x="4841900" y="2823210"/>
            <a:ext cx="251460" cy="251460"/>
          </a:xfrm>
          <a:prstGeom prst="rect">
            <a:avLst/>
          </a:prstGeom>
        </p:spPr>
      </p:pic>
      <p:sp>
        <p:nvSpPr>
          <p:cNvPr id="12" name="Text 8"/>
          <p:cNvSpPr txBox="1"/>
          <p:nvPr/>
        </p:nvSpPr>
        <p:spPr>
          <a:xfrm>
            <a:off x="5356250" y="2770632"/>
            <a:ext cx="2119274" cy="36576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Server</a:t>
            </a:r>
            <a:endParaRPr lang="en-US" sz="1700" dirty="0"/>
          </a:p>
        </p:txBody>
      </p:sp>
      <p:sp>
        <p:nvSpPr>
          <p:cNvPr id="13" name="Text 9"/>
          <p:cNvSpPr txBox="1"/>
          <p:nvPr/>
        </p:nvSpPr>
        <p:spPr>
          <a:xfrm>
            <a:off x="4716170" y="3337560"/>
            <a:ext cx="2759354" cy="594360"/>
          </a:xfrm>
          <a:prstGeom prst="rect">
            <a:avLst/>
          </a:prstGeom>
          <a:noFill/>
          <a:ln/>
        </p:spPr>
        <p:txBody>
          <a:bodyPr wrap="square" lIns="0" tIns="0" rIns="0" bIns="0" rtlCol="0" anchor="t"/>
          <a:lstStyle/>
          <a:p>
            <a:pPr indent="0" marL="0">
              <a:buNone/>
            </a:pPr>
            <a:r>
              <a:rPr lang="en-US" sz="1400" dirty="0">
                <a:solidFill>
                  <a:schemeClr val="accent5"/>
                </a:solidFill>
              </a:rPr>
              <a:t>PHP and SQLite: accounts, sync, discussions, plans through RevenueCat and Stripe.</a:t>
            </a:r>
            <a:endParaRPr lang="en-US" sz="1400" dirty="0"/>
          </a:p>
        </p:txBody>
      </p:sp>
      <p:sp>
        <p:nvSpPr>
          <p:cNvPr id="14" name="AI card"/>
          <p:cNvSpPr/>
          <p:nvPr/>
        </p:nvSpPr>
        <p:spPr>
          <a:xfrm>
            <a:off x="8069885" y="2423160"/>
            <a:ext cx="3307994" cy="1783080"/>
          </a:xfrm>
          <a:prstGeom prst="roundRect">
            <a:avLst>
              <a:gd name="adj" fmla="val 11282"/>
            </a:avLst>
          </a:prstGeom>
          <a:solidFill>
            <a:schemeClr val="accent4"/>
          </a:solidFill>
          <a:ln/>
        </p:spPr>
      </p:sp>
      <p:sp>
        <p:nvSpPr>
          <p:cNvPr id="15" name="AI disc"/>
          <p:cNvSpPr/>
          <p:nvPr/>
        </p:nvSpPr>
        <p:spPr>
          <a:xfrm>
            <a:off x="8344205" y="2697480"/>
            <a:ext cx="502920" cy="502920"/>
          </a:xfrm>
          <a:prstGeom prst="ellipse">
            <a:avLst/>
          </a:prstGeom>
          <a:solidFill>
            <a:schemeClr val="tx1"/>
          </a:solidFill>
          <a:ln/>
        </p:spPr>
      </p:sp>
      <p:pic>
        <p:nvPicPr>
          <p:cNvPr id="16" name="AI icon" descr="preencoded.png">    </p:cNvPr>
          <p:cNvPicPr>
            <a:picLocks noChangeAspect="1"/>
          </p:cNvPicPr>
          <p:nvPr/>
        </p:nvPicPr>
        <p:blipFill>
          <a:blip r:embed="rId3"/>
          <a:stretch>
            <a:fillRect/>
          </a:stretch>
        </p:blipFill>
        <p:spPr>
          <a:xfrm>
            <a:off x="8469935" y="2823210"/>
            <a:ext cx="251460" cy="251460"/>
          </a:xfrm>
          <a:prstGeom prst="rect">
            <a:avLst/>
          </a:prstGeom>
        </p:spPr>
      </p:pic>
      <p:sp>
        <p:nvSpPr>
          <p:cNvPr id="17" name="Text 12"/>
          <p:cNvSpPr txBox="1"/>
          <p:nvPr/>
        </p:nvSpPr>
        <p:spPr>
          <a:xfrm>
            <a:off x="8984285" y="2770632"/>
            <a:ext cx="2119274" cy="36576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AI</a:t>
            </a:r>
            <a:endParaRPr lang="en-US" sz="1700" dirty="0"/>
          </a:p>
        </p:txBody>
      </p:sp>
      <p:sp>
        <p:nvSpPr>
          <p:cNvPr id="18" name="Text 13"/>
          <p:cNvSpPr txBox="1"/>
          <p:nvPr/>
        </p:nvSpPr>
        <p:spPr>
          <a:xfrm>
            <a:off x="8344205" y="3337560"/>
            <a:ext cx="2759354" cy="594360"/>
          </a:xfrm>
          <a:prstGeom prst="rect">
            <a:avLst/>
          </a:prstGeom>
          <a:noFill/>
          <a:ln/>
        </p:spPr>
        <p:txBody>
          <a:bodyPr wrap="square" lIns="0" tIns="0" rIns="0" bIns="0" rtlCol="0" anchor="t"/>
          <a:lstStyle/>
          <a:p>
            <a:pPr indent="0" marL="0">
              <a:buNone/>
            </a:pPr>
            <a:r>
              <a:rPr lang="en-US" sz="1400" dirty="0">
                <a:solidFill>
                  <a:schemeClr val="accent5"/>
                </a:solidFill>
              </a:rPr>
              <a:t>Claude by Anthropic for the chat, reading the page and writing classes; OpenAI Realtime for calls.</a:t>
            </a:r>
            <a:endParaRPr lang="en-US" sz="1400" dirty="0"/>
          </a:p>
        </p:txBody>
      </p:sp>
      <p:sp>
        <p:nvSpPr>
          <p:cNvPr id="19" name="Quality card"/>
          <p:cNvSpPr/>
          <p:nvPr/>
        </p:nvSpPr>
        <p:spPr>
          <a:xfrm>
            <a:off x="813816" y="4480560"/>
            <a:ext cx="3307994" cy="1783080"/>
          </a:xfrm>
          <a:prstGeom prst="roundRect">
            <a:avLst>
              <a:gd name="adj" fmla="val 11282"/>
            </a:avLst>
          </a:prstGeom>
          <a:solidFill>
            <a:schemeClr val="accent4"/>
          </a:solidFill>
          <a:ln/>
        </p:spPr>
      </p:sp>
      <p:sp>
        <p:nvSpPr>
          <p:cNvPr id="20" name="Quality disc"/>
          <p:cNvSpPr/>
          <p:nvPr/>
        </p:nvSpPr>
        <p:spPr>
          <a:xfrm>
            <a:off x="1088136" y="4754880"/>
            <a:ext cx="502920" cy="502920"/>
          </a:xfrm>
          <a:prstGeom prst="ellipse">
            <a:avLst/>
          </a:prstGeom>
          <a:solidFill>
            <a:schemeClr val="tx1"/>
          </a:solidFill>
          <a:ln/>
        </p:spPr>
      </p:sp>
      <p:pic>
        <p:nvPicPr>
          <p:cNvPr id="21" name="Quality icon" descr="preencoded.png">    </p:cNvPr>
          <p:cNvPicPr>
            <a:picLocks noChangeAspect="1"/>
          </p:cNvPicPr>
          <p:nvPr/>
        </p:nvPicPr>
        <p:blipFill>
          <a:blip r:embed="rId4"/>
          <a:stretch>
            <a:fillRect/>
          </a:stretch>
        </p:blipFill>
        <p:spPr>
          <a:xfrm>
            <a:off x="1213866" y="4880610"/>
            <a:ext cx="251460" cy="251460"/>
          </a:xfrm>
          <a:prstGeom prst="rect">
            <a:avLst/>
          </a:prstGeom>
        </p:spPr>
      </p:pic>
      <p:sp>
        <p:nvSpPr>
          <p:cNvPr id="22" name="Text 16"/>
          <p:cNvSpPr txBox="1"/>
          <p:nvPr/>
        </p:nvSpPr>
        <p:spPr>
          <a:xfrm>
            <a:off x="1728216" y="4828032"/>
            <a:ext cx="2119274" cy="36576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Quality</a:t>
            </a:r>
            <a:endParaRPr lang="en-US" sz="1700" dirty="0"/>
          </a:p>
        </p:txBody>
      </p:sp>
      <p:sp>
        <p:nvSpPr>
          <p:cNvPr id="23" name="Text 17"/>
          <p:cNvSpPr txBox="1"/>
          <p:nvPr/>
        </p:nvSpPr>
        <p:spPr>
          <a:xfrm>
            <a:off x="1088136" y="5394960"/>
            <a:ext cx="2759354" cy="594360"/>
          </a:xfrm>
          <a:prstGeom prst="rect">
            <a:avLst/>
          </a:prstGeom>
          <a:noFill/>
          <a:ln/>
        </p:spPr>
        <p:txBody>
          <a:bodyPr wrap="square" lIns="0" tIns="0" rIns="0" bIns="0" rtlCol="0" anchor="t"/>
          <a:lstStyle/>
          <a:p>
            <a:pPr indent="0" marL="0">
              <a:buNone/>
            </a:pPr>
            <a:r>
              <a:rPr lang="en-US" sz="1400" dirty="0">
                <a:solidFill>
                  <a:schemeClr val="accent5"/>
                </a:solidFill>
              </a:rPr>
              <a:t>1,212 automated browser checks across 43 test files, run before a release.</a:t>
            </a:r>
            <a:endParaRPr lang="en-US" sz="1400" dirty="0"/>
          </a:p>
        </p:txBody>
      </p:sp>
      <p:sp>
        <p:nvSpPr>
          <p:cNvPr id="24" name="Languages card"/>
          <p:cNvSpPr/>
          <p:nvPr/>
        </p:nvSpPr>
        <p:spPr>
          <a:xfrm>
            <a:off x="4441850" y="4480560"/>
            <a:ext cx="3307994" cy="1783080"/>
          </a:xfrm>
          <a:prstGeom prst="roundRect">
            <a:avLst>
              <a:gd name="adj" fmla="val 11282"/>
            </a:avLst>
          </a:prstGeom>
          <a:solidFill>
            <a:schemeClr val="accent4"/>
          </a:solidFill>
          <a:ln/>
        </p:spPr>
      </p:sp>
      <p:sp>
        <p:nvSpPr>
          <p:cNvPr id="25" name="Languages disc"/>
          <p:cNvSpPr/>
          <p:nvPr/>
        </p:nvSpPr>
        <p:spPr>
          <a:xfrm>
            <a:off x="4716170" y="4754880"/>
            <a:ext cx="502920" cy="502920"/>
          </a:xfrm>
          <a:prstGeom prst="ellipse">
            <a:avLst/>
          </a:prstGeom>
          <a:solidFill>
            <a:schemeClr val="tx1"/>
          </a:solidFill>
          <a:ln/>
        </p:spPr>
      </p:sp>
      <p:pic>
        <p:nvPicPr>
          <p:cNvPr id="26" name="Languages icon" descr="preencoded.png">    </p:cNvPr>
          <p:cNvPicPr>
            <a:picLocks noChangeAspect="1"/>
          </p:cNvPicPr>
          <p:nvPr/>
        </p:nvPicPr>
        <p:blipFill>
          <a:blip r:embed="rId5"/>
          <a:stretch>
            <a:fillRect/>
          </a:stretch>
        </p:blipFill>
        <p:spPr>
          <a:xfrm>
            <a:off x="4841900" y="4880610"/>
            <a:ext cx="251460" cy="251460"/>
          </a:xfrm>
          <a:prstGeom prst="rect">
            <a:avLst/>
          </a:prstGeom>
        </p:spPr>
      </p:pic>
      <p:sp>
        <p:nvSpPr>
          <p:cNvPr id="27" name="Text 20"/>
          <p:cNvSpPr txBox="1"/>
          <p:nvPr/>
        </p:nvSpPr>
        <p:spPr>
          <a:xfrm>
            <a:off x="5356250" y="4828032"/>
            <a:ext cx="2119274" cy="36576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Languages</a:t>
            </a:r>
            <a:endParaRPr lang="en-US" sz="1700" dirty="0"/>
          </a:p>
        </p:txBody>
      </p:sp>
      <p:sp>
        <p:nvSpPr>
          <p:cNvPr id="28" name="Text 21"/>
          <p:cNvSpPr txBox="1"/>
          <p:nvPr/>
        </p:nvSpPr>
        <p:spPr>
          <a:xfrm>
            <a:off x="4716170" y="5394960"/>
            <a:ext cx="2759354" cy="594360"/>
          </a:xfrm>
          <a:prstGeom prst="rect">
            <a:avLst/>
          </a:prstGeom>
          <a:noFill/>
          <a:ln/>
        </p:spPr>
        <p:txBody>
          <a:bodyPr wrap="square" lIns="0" tIns="0" rIns="0" bIns="0" rtlCol="0" anchor="t"/>
          <a:lstStyle/>
          <a:p>
            <a:pPr indent="0" marL="0">
              <a:buNone/>
            </a:pPr>
            <a:r>
              <a:rPr lang="en-US" sz="1400" dirty="0">
                <a:solidFill>
                  <a:schemeClr val="accent5"/>
                </a:solidFill>
              </a:rPr>
              <a:t>A layer that translates the interface as it draws, so the code stays in one language.</a:t>
            </a:r>
            <a:endParaRPr lang="en-US" sz="1400" dirty="0"/>
          </a:p>
        </p:txBody>
      </p:sp>
      <p:sp>
        <p:nvSpPr>
          <p:cNvPr id="29" name="Reach card"/>
          <p:cNvSpPr/>
          <p:nvPr/>
        </p:nvSpPr>
        <p:spPr>
          <a:xfrm>
            <a:off x="8069885" y="4480560"/>
            <a:ext cx="3307994" cy="1783080"/>
          </a:xfrm>
          <a:prstGeom prst="roundRect">
            <a:avLst>
              <a:gd name="adj" fmla="val 11282"/>
            </a:avLst>
          </a:prstGeom>
          <a:solidFill>
            <a:schemeClr val="accent4"/>
          </a:solidFill>
          <a:ln/>
        </p:spPr>
      </p:sp>
      <p:sp>
        <p:nvSpPr>
          <p:cNvPr id="30" name="Reach disc"/>
          <p:cNvSpPr/>
          <p:nvPr/>
        </p:nvSpPr>
        <p:spPr>
          <a:xfrm>
            <a:off x="8344205" y="4754880"/>
            <a:ext cx="502920" cy="502920"/>
          </a:xfrm>
          <a:prstGeom prst="ellipse">
            <a:avLst/>
          </a:prstGeom>
          <a:solidFill>
            <a:schemeClr val="tx1"/>
          </a:solidFill>
          <a:ln/>
        </p:spPr>
      </p:sp>
      <p:pic>
        <p:nvPicPr>
          <p:cNvPr id="31" name="Reach icon" descr="preencoded.png">    </p:cNvPr>
          <p:cNvPicPr>
            <a:picLocks noChangeAspect="1"/>
          </p:cNvPicPr>
          <p:nvPr/>
        </p:nvPicPr>
        <p:blipFill>
          <a:blip r:embed="rId6"/>
          <a:stretch>
            <a:fillRect/>
          </a:stretch>
        </p:blipFill>
        <p:spPr>
          <a:xfrm>
            <a:off x="8469935" y="4880610"/>
            <a:ext cx="251460" cy="251460"/>
          </a:xfrm>
          <a:prstGeom prst="rect">
            <a:avLst/>
          </a:prstGeom>
        </p:spPr>
      </p:pic>
      <p:sp>
        <p:nvSpPr>
          <p:cNvPr id="32" name="Text 24"/>
          <p:cNvSpPr txBox="1"/>
          <p:nvPr/>
        </p:nvSpPr>
        <p:spPr>
          <a:xfrm>
            <a:off x="8984285" y="4828032"/>
            <a:ext cx="2119274" cy="36576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Reach</a:t>
            </a:r>
            <a:endParaRPr lang="en-US" sz="1700" dirty="0"/>
          </a:p>
        </p:txBody>
      </p:sp>
      <p:sp>
        <p:nvSpPr>
          <p:cNvPr id="33" name="Text 25"/>
          <p:cNvSpPr txBox="1"/>
          <p:nvPr/>
        </p:nvSpPr>
        <p:spPr>
          <a:xfrm>
            <a:off x="8344205" y="5394960"/>
            <a:ext cx="2759354" cy="594360"/>
          </a:xfrm>
          <a:prstGeom prst="rect">
            <a:avLst/>
          </a:prstGeom>
          <a:noFill/>
          <a:ln/>
        </p:spPr>
        <p:txBody>
          <a:bodyPr wrap="square" lIns="0" tIns="0" rIns="0" bIns="0" rtlCol="0" anchor="t"/>
          <a:lstStyle/>
          <a:p>
            <a:pPr indent="0" marL="0">
              <a:buNone/>
            </a:pPr>
            <a:r>
              <a:rPr lang="en-US" sz="1400" dirty="0">
                <a:solidFill>
                  <a:schemeClr val="accent5"/>
                </a:solidFill>
              </a:rPr>
              <a:t>191 public study pages for search, plus iPhone and Android app builds.</a:t>
            </a:r>
            <a:endParaRPr lang="en-US" sz="14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THE MODEL</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lIns="0" tIns="0" rIns="0" bIns="0" rtlCol="0" anchor="t"/>
          <a:lstStyle/>
          <a:p>
            <a:pPr algn="l" indent="0" marL="0">
              <a:buNone/>
            </a:pPr>
            <a:r>
              <a:rPr lang="en-US" sz="3600" b="1" dirty="0">
                <a:solidFill>
                  <a:schemeClr val="tx1"/>
                </a:solidFill>
              </a:rPr>
              <a:t>Free to study. Pay for Bo.</a:t>
            </a:r>
            <a:endParaRPr lang="en-US" sz="3600" dirty="0"/>
          </a:p>
        </p:txBody>
      </p:sp>
      <p:sp>
        <p:nvSpPr>
          <p:cNvPr id="4" name="Free plan"/>
          <p:cNvSpPr/>
          <p:nvPr/>
        </p:nvSpPr>
        <p:spPr>
          <a:xfrm>
            <a:off x="813816" y="2514600"/>
            <a:ext cx="3307994" cy="3063240"/>
          </a:xfrm>
          <a:prstGeom prst="roundRect">
            <a:avLst>
              <a:gd name="adj" fmla="val 6567"/>
            </a:avLst>
          </a:prstGeom>
          <a:solidFill>
            <a:schemeClr val="bg1"/>
          </a:solidFill>
          <a:ln w="9525">
            <a:solidFill>
              <a:schemeClr val="accent5"/>
            </a:solidFill>
            <a:prstDash val="solid"/>
          </a:ln>
        </p:spPr>
      </p:sp>
      <p:sp>
        <p:nvSpPr>
          <p:cNvPr id="5" name="Text 3"/>
          <p:cNvSpPr txBox="1"/>
          <p:nvPr/>
        </p:nvSpPr>
        <p:spPr>
          <a:xfrm>
            <a:off x="1179576" y="2880360"/>
            <a:ext cx="2576474"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Free</a:t>
            </a:r>
            <a:endParaRPr lang="en-US" sz="2000" dirty="0"/>
          </a:p>
        </p:txBody>
      </p:sp>
      <p:sp>
        <p:nvSpPr>
          <p:cNvPr id="6" name="Text 4"/>
          <p:cNvSpPr txBox="1"/>
          <p:nvPr/>
        </p:nvSpPr>
        <p:spPr>
          <a:xfrm>
            <a:off x="1179576" y="3429000"/>
            <a:ext cx="2576474" cy="731520"/>
          </a:xfrm>
          <a:prstGeom prst="rect">
            <a:avLst/>
          </a:prstGeom>
          <a:noFill/>
          <a:ln/>
        </p:spPr>
        <p:txBody>
          <a:bodyPr wrap="square" lIns="0" tIns="0" rIns="0" bIns="0" rtlCol="0" anchor="b"/>
          <a:lstStyle/>
          <a:p>
            <a:pPr indent="0" marL="0">
              <a:buNone/>
            </a:pPr>
            <a:r>
              <a:rPr lang="en-US" sz="4000" b="1" dirty="0">
                <a:solidFill>
                  <a:schemeClr val="tx1"/>
                </a:solidFill>
                <a:latin typeface="Arial" pitchFamily="34" charset="0"/>
                <a:ea typeface="Arial" pitchFamily="34" charset="-122"/>
                <a:cs typeface="Arial" pitchFamily="34" charset="-120"/>
              </a:rPr>
              <a:t>$0</a:t>
            </a:r>
            <a:pPr indent="0" marL="0">
              <a:buNone/>
            </a:pPr>
            <a:endParaRPr lang="en-US" sz="4000" dirty="0"/>
          </a:p>
        </p:txBody>
      </p:sp>
      <p:sp>
        <p:nvSpPr>
          <p:cNvPr id="7" name="Text 5"/>
          <p:cNvSpPr txBox="1"/>
          <p:nvPr/>
        </p:nvSpPr>
        <p:spPr>
          <a:xfrm>
            <a:off x="1179576" y="4389120"/>
            <a:ext cx="2576474" cy="82296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Every built-in class: notes, practice, flashcards, Today, the Focus room, the GPA calculator.</a:t>
            </a:r>
            <a:endParaRPr lang="en-US" sz="1500" dirty="0"/>
          </a:p>
        </p:txBody>
      </p:sp>
      <p:sp>
        <p:nvSpPr>
          <p:cNvPr id="8" name="Pro plan"/>
          <p:cNvSpPr/>
          <p:nvPr/>
        </p:nvSpPr>
        <p:spPr>
          <a:xfrm>
            <a:off x="4441850" y="2514600"/>
            <a:ext cx="3307994" cy="3063240"/>
          </a:xfrm>
          <a:prstGeom prst="roundRect">
            <a:avLst>
              <a:gd name="adj" fmla="val 6567"/>
            </a:avLst>
          </a:prstGeom>
          <a:solidFill>
            <a:schemeClr val="bg1"/>
          </a:solidFill>
          <a:ln w="9525">
            <a:solidFill>
              <a:schemeClr val="accent5"/>
            </a:solidFill>
            <a:prstDash val="solid"/>
          </a:ln>
        </p:spPr>
      </p:sp>
      <p:sp>
        <p:nvSpPr>
          <p:cNvPr id="9" name="Text 7"/>
          <p:cNvSpPr txBox="1"/>
          <p:nvPr/>
        </p:nvSpPr>
        <p:spPr>
          <a:xfrm>
            <a:off x="4807610" y="2880360"/>
            <a:ext cx="2576474"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Pro</a:t>
            </a:r>
            <a:endParaRPr lang="en-US" sz="2000" dirty="0"/>
          </a:p>
        </p:txBody>
      </p:sp>
      <p:sp>
        <p:nvSpPr>
          <p:cNvPr id="10" name="Text 8"/>
          <p:cNvSpPr txBox="1"/>
          <p:nvPr/>
        </p:nvSpPr>
        <p:spPr>
          <a:xfrm>
            <a:off x="4807610" y="3429000"/>
            <a:ext cx="2576474" cy="73152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$15</a:t>
            </a:r>
            <a:pPr indent="0" marL="0">
              <a:buNone/>
            </a:pPr>
            <a:r>
              <a:rPr lang="en-US" sz="2000" dirty="0">
                <a:solidFill>
                  <a:schemeClr val="tx2"/>
                </a:solidFill>
                <a:latin typeface="Arial" pitchFamily="34" charset="0"/>
                <a:ea typeface="Arial" pitchFamily="34" charset="-122"/>
                <a:cs typeface="Arial" pitchFamily="34" charset="-120"/>
              </a:rPr>
              <a:t> /mo</a:t>
            </a:r>
            <a:endParaRPr lang="en-US" sz="4000" dirty="0"/>
          </a:p>
        </p:txBody>
      </p:sp>
      <p:sp>
        <p:nvSpPr>
          <p:cNvPr id="11" name="Text 9"/>
          <p:cNvSpPr txBox="1"/>
          <p:nvPr/>
        </p:nvSpPr>
        <p:spPr>
          <a:xfrm>
            <a:off x="4807610" y="4389120"/>
            <a:ext cx="2576474" cy="82296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Bo writes your classes from any syllabus, and you can share them.</a:t>
            </a:r>
            <a:endParaRPr lang="en-US" sz="1500" dirty="0"/>
          </a:p>
        </p:txBody>
      </p:sp>
      <p:sp>
        <p:nvSpPr>
          <p:cNvPr id="12" name="Max plan"/>
          <p:cNvSpPr/>
          <p:nvPr/>
        </p:nvSpPr>
        <p:spPr>
          <a:xfrm>
            <a:off x="8069885" y="2514600"/>
            <a:ext cx="3307994" cy="3063240"/>
          </a:xfrm>
          <a:prstGeom prst="roundRect">
            <a:avLst>
              <a:gd name="adj" fmla="val 6567"/>
            </a:avLst>
          </a:prstGeom>
          <a:solidFill>
            <a:schemeClr val="tx1"/>
          </a:solidFill>
          <a:ln/>
        </p:spPr>
      </p:sp>
      <p:sp>
        <p:nvSpPr>
          <p:cNvPr id="13" name="Text 11"/>
          <p:cNvSpPr txBox="1"/>
          <p:nvPr/>
        </p:nvSpPr>
        <p:spPr>
          <a:xfrm>
            <a:off x="8435645" y="2880360"/>
            <a:ext cx="2576474" cy="411480"/>
          </a:xfrm>
          <a:prstGeom prst="rect">
            <a:avLst/>
          </a:prstGeom>
          <a:noFill/>
          <a:ln/>
        </p:spPr>
        <p:txBody>
          <a:bodyPr wrap="square" lIns="0" tIns="0" rIns="0" bIns="0" rtlCol="0" anchor="t"/>
          <a:lstStyle/>
          <a:p>
            <a:pPr indent="0" marL="0">
              <a:buNone/>
            </a:pPr>
            <a:r>
              <a:rPr lang="en-US" sz="2000" b="1" dirty="0">
                <a:solidFill>
                  <a:schemeClr val="bg2"/>
                </a:solidFill>
                <a:latin typeface="Arial" pitchFamily="34" charset="0"/>
                <a:ea typeface="Arial" pitchFamily="34" charset="-122"/>
                <a:cs typeface="Arial" pitchFamily="34" charset="-120"/>
              </a:rPr>
              <a:t>Max</a:t>
            </a:r>
            <a:endParaRPr lang="en-US" sz="2000" dirty="0"/>
          </a:p>
        </p:txBody>
      </p:sp>
      <p:sp>
        <p:nvSpPr>
          <p:cNvPr id="14" name="Text 12"/>
          <p:cNvSpPr txBox="1"/>
          <p:nvPr/>
        </p:nvSpPr>
        <p:spPr>
          <a:xfrm>
            <a:off x="8435645" y="3429000"/>
            <a:ext cx="2576474" cy="731520"/>
          </a:xfrm>
          <a:prstGeom prst="rect">
            <a:avLst/>
          </a:prstGeom>
          <a:noFill/>
          <a:ln/>
        </p:spPr>
        <p:txBody>
          <a:bodyPr wrap="square" lIns="0" tIns="0" rIns="0" bIns="0" rtlCol="0" anchor="b"/>
          <a:lstStyle/>
          <a:p>
            <a:pPr indent="0" marL="0">
              <a:buNone/>
            </a:pPr>
            <a:r>
              <a:rPr lang="en-US" sz="4000" b="1" dirty="0">
                <a:solidFill>
                  <a:schemeClr val="accent2"/>
                </a:solidFill>
                <a:latin typeface="Arial" pitchFamily="34" charset="0"/>
                <a:ea typeface="Arial" pitchFamily="34" charset="-122"/>
                <a:cs typeface="Arial" pitchFamily="34" charset="-120"/>
              </a:rPr>
              <a:t>$50</a:t>
            </a:r>
            <a:pPr indent="0" marL="0">
              <a:buNone/>
            </a:pPr>
            <a:r>
              <a:rPr lang="en-US" sz="2000" dirty="0">
                <a:solidFill>
                  <a:schemeClr val="accent5"/>
                </a:solidFill>
                <a:latin typeface="Arial" pitchFamily="34" charset="0"/>
                <a:ea typeface="Arial" pitchFamily="34" charset="-122"/>
                <a:cs typeface="Arial" pitchFamily="34" charset="-120"/>
              </a:rPr>
              <a:t> /mo</a:t>
            </a:r>
            <a:endParaRPr lang="en-US" sz="4000" dirty="0"/>
          </a:p>
        </p:txBody>
      </p:sp>
      <p:sp>
        <p:nvSpPr>
          <p:cNvPr id="15" name="Text 13"/>
          <p:cNvSpPr txBox="1"/>
          <p:nvPr/>
        </p:nvSpPr>
        <p:spPr>
          <a:xfrm>
            <a:off x="8435645" y="4389120"/>
            <a:ext cx="2576474" cy="822960"/>
          </a:xfrm>
          <a:prstGeom prst="rect">
            <a:avLst/>
          </a:prstGeom>
          <a:noFill/>
          <a:ln/>
        </p:spPr>
        <p:txBody>
          <a:bodyPr wrap="square" lIns="0" tIns="0" rIns="0" bIns="0" rtlCol="0" anchor="t"/>
          <a:lstStyle/>
          <a:p>
            <a:pPr indent="0" marL="0">
              <a:lnSpc>
                <a:spcPct val="110000"/>
              </a:lnSpc>
              <a:buNone/>
            </a:pPr>
            <a:r>
              <a:rPr lang="en-US" sz="1500" dirty="0">
                <a:solidFill>
                  <a:schemeClr val="accent5"/>
                </a:solidFill>
              </a:rPr>
              <a:t>Everything in Pro, plus Bo the tutor: chat, calls and Bo on every page.</a:t>
            </a:r>
            <a:endParaRPr lang="en-US" sz="15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13816" y="685800"/>
            <a:ext cx="10564063" cy="365760"/>
          </a:xfrm>
          <a:prstGeom prst="rect">
            <a:avLst/>
          </a:prstGeom>
          <a:noFill/>
          <a:ln/>
        </p:spPr>
        <p:txBody>
          <a:bodyPr wrap="square" lIns="0" tIns="0" rIns="0" bIns="0" rtlCol="0" anchor="t"/>
          <a:lstStyle/>
          <a:p>
            <a:pPr algn="l" indent="0" marL="0">
              <a:buNone/>
            </a:pPr>
            <a:r>
              <a:rPr lang="en-US" sz="1400" b="1" spc="300" kern="0" dirty="0">
                <a:solidFill>
                  <a:schemeClr val="accent1"/>
                </a:solidFill>
              </a:rPr>
              <a:t>ROADMAP</a:t>
            </a:r>
            <a:endParaRPr lang="en-US" sz="1400" dirty="0"/>
          </a:p>
        </p:txBody>
      </p:sp>
      <p:sp>
        <p:nvSpPr>
          <p:cNvPr id="3" name="Text 0"/>
          <p:cNvSpPr/>
          <p:nvPr>
            <p:ph idx="101" type="title" hasCustomPrompt="1"/>
          </p:nvPr>
        </p:nvSpPr>
        <p:spPr>
          <a:xfrm>
            <a:off x="813816" y="1005840"/>
            <a:ext cx="10564063" cy="1234440"/>
          </a:xfrm>
          <a:prstGeom prst="rect">
            <a:avLst/>
          </a:prstGeom>
          <a:noFill/>
          <a:ln/>
        </p:spPr>
        <p:txBody>
          <a:bodyPr wrap="square" lIns="0" tIns="0" rIns="0" bIns="0" rtlCol="0" anchor="t"/>
          <a:lstStyle/>
          <a:p>
            <a:pPr algn="l" indent="0" marL="0">
              <a:buNone/>
            </a:pPr>
            <a:r>
              <a:rPr lang="en-US" sz="3600" b="1" dirty="0">
                <a:solidFill>
                  <a:schemeClr val="tx1"/>
                </a:solidFill>
              </a:rPr>
              <a:t>What’s next</a:t>
            </a:r>
            <a:endParaRPr lang="en-US" sz="3600" dirty="0"/>
          </a:p>
        </p:txBody>
      </p:sp>
      <p:sp>
        <p:nvSpPr>
          <p:cNvPr id="4" name="Four more languages card"/>
          <p:cNvSpPr/>
          <p:nvPr/>
        </p:nvSpPr>
        <p:spPr>
          <a:xfrm>
            <a:off x="813816" y="2514600"/>
            <a:ext cx="5122012" cy="1600200"/>
          </a:xfrm>
          <a:prstGeom prst="roundRect">
            <a:avLst>
              <a:gd name="adj" fmla="val 12571"/>
            </a:avLst>
          </a:prstGeom>
          <a:solidFill>
            <a:schemeClr val="bg1"/>
          </a:solidFill>
          <a:ln w="9525">
            <a:solidFill>
              <a:schemeClr val="accent5"/>
            </a:solidFill>
            <a:prstDash val="solid"/>
          </a:ln>
        </p:spPr>
      </p:sp>
      <p:sp>
        <p:nvSpPr>
          <p:cNvPr id="5" name="Text 3"/>
          <p:cNvSpPr txBox="1"/>
          <p:nvPr/>
        </p:nvSpPr>
        <p:spPr>
          <a:xfrm>
            <a:off x="1133856" y="278892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1</a:t>
            </a:r>
            <a:endParaRPr lang="en-US" sz="4000" dirty="0"/>
          </a:p>
        </p:txBody>
      </p:sp>
      <p:sp>
        <p:nvSpPr>
          <p:cNvPr id="6" name="Text 4"/>
          <p:cNvSpPr txBox="1"/>
          <p:nvPr/>
        </p:nvSpPr>
        <p:spPr>
          <a:xfrm>
            <a:off x="1865376" y="2834640"/>
            <a:ext cx="3750412"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Four more languages</a:t>
            </a:r>
            <a:endParaRPr lang="en-US" sz="1800" dirty="0"/>
          </a:p>
        </p:txBody>
      </p:sp>
      <p:sp>
        <p:nvSpPr>
          <p:cNvPr id="7" name="Text 5"/>
          <p:cNvSpPr txBox="1"/>
          <p:nvPr/>
        </p:nvSpPr>
        <p:spPr>
          <a:xfrm>
            <a:off x="1865376" y="3291840"/>
            <a:ext cx="3750412" cy="502920"/>
          </a:xfrm>
          <a:prstGeom prst="rect">
            <a:avLst/>
          </a:prstGeom>
          <a:noFill/>
          <a:ln/>
        </p:spPr>
        <p:txBody>
          <a:bodyPr wrap="square" lIns="0" tIns="0" rIns="0" bIns="0" rtlCol="0" anchor="t"/>
          <a:lstStyle/>
          <a:p>
            <a:pPr indent="0" marL="0">
              <a:buNone/>
            </a:pPr>
            <a:r>
              <a:rPr lang="en-US" sz="1500" dirty="0">
                <a:solidFill>
                  <a:schemeClr val="tx2"/>
                </a:solidFill>
              </a:rPr>
              <a:t>French, Italian, Portuguese and German are partly translated.</a:t>
            </a:r>
            <a:endParaRPr lang="en-US" sz="1500" dirty="0"/>
          </a:p>
        </p:txBody>
      </p:sp>
      <p:sp>
        <p:nvSpPr>
          <p:cNvPr id="8" name="More classes card"/>
          <p:cNvSpPr/>
          <p:nvPr/>
        </p:nvSpPr>
        <p:spPr>
          <a:xfrm>
            <a:off x="6255868" y="2514600"/>
            <a:ext cx="5122012" cy="1600200"/>
          </a:xfrm>
          <a:prstGeom prst="roundRect">
            <a:avLst>
              <a:gd name="adj" fmla="val 12571"/>
            </a:avLst>
          </a:prstGeom>
          <a:solidFill>
            <a:schemeClr val="bg1"/>
          </a:solidFill>
          <a:ln w="9525">
            <a:solidFill>
              <a:schemeClr val="accent5"/>
            </a:solidFill>
            <a:prstDash val="solid"/>
          </a:ln>
        </p:spPr>
      </p:sp>
      <p:sp>
        <p:nvSpPr>
          <p:cNvPr id="9" name="Text 7"/>
          <p:cNvSpPr txBox="1"/>
          <p:nvPr/>
        </p:nvSpPr>
        <p:spPr>
          <a:xfrm>
            <a:off x="6575908" y="278892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2</a:t>
            </a:r>
            <a:endParaRPr lang="en-US" sz="4000" dirty="0"/>
          </a:p>
        </p:txBody>
      </p:sp>
      <p:sp>
        <p:nvSpPr>
          <p:cNvPr id="10" name="Text 8"/>
          <p:cNvSpPr txBox="1"/>
          <p:nvPr/>
        </p:nvSpPr>
        <p:spPr>
          <a:xfrm>
            <a:off x="7307428" y="2834640"/>
            <a:ext cx="3750412"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More classes</a:t>
            </a:r>
            <a:endParaRPr lang="en-US" sz="1800" dirty="0"/>
          </a:p>
        </p:txBody>
      </p:sp>
      <p:sp>
        <p:nvSpPr>
          <p:cNvPr id="11" name="Text 9"/>
          <p:cNvSpPr txBox="1"/>
          <p:nvPr/>
        </p:nvSpPr>
        <p:spPr>
          <a:xfrm>
            <a:off x="7307428" y="3291840"/>
            <a:ext cx="3750412" cy="502920"/>
          </a:xfrm>
          <a:prstGeom prst="rect">
            <a:avLst/>
          </a:prstGeom>
          <a:noFill/>
          <a:ln/>
        </p:spPr>
        <p:txBody>
          <a:bodyPr wrap="square" lIns="0" tIns="0" rIns="0" bIns="0" rtlCol="0" anchor="t"/>
          <a:lstStyle/>
          <a:p>
            <a:pPr indent="0" marL="0">
              <a:buNone/>
            </a:pPr>
            <a:r>
              <a:rPr lang="en-US" sz="1500" dirty="0">
                <a:solidFill>
                  <a:schemeClr val="tx2"/>
                </a:solidFill>
              </a:rPr>
              <a:t>Students request a class with its syllabus; the most requested go live first.</a:t>
            </a:r>
            <a:endParaRPr lang="en-US" sz="1500" dirty="0"/>
          </a:p>
        </p:txBody>
      </p:sp>
      <p:sp>
        <p:nvSpPr>
          <p:cNvPr id="12" name="Instructors card"/>
          <p:cNvSpPr/>
          <p:nvPr/>
        </p:nvSpPr>
        <p:spPr>
          <a:xfrm>
            <a:off x="813816" y="4434840"/>
            <a:ext cx="5122012" cy="1600200"/>
          </a:xfrm>
          <a:prstGeom prst="roundRect">
            <a:avLst>
              <a:gd name="adj" fmla="val 12571"/>
            </a:avLst>
          </a:prstGeom>
          <a:solidFill>
            <a:schemeClr val="bg1"/>
          </a:solidFill>
          <a:ln w="9525">
            <a:solidFill>
              <a:schemeClr val="accent5"/>
            </a:solidFill>
            <a:prstDash val="solid"/>
          </a:ln>
        </p:spPr>
      </p:sp>
      <p:sp>
        <p:nvSpPr>
          <p:cNvPr id="13" name="Text 11"/>
          <p:cNvSpPr txBox="1"/>
          <p:nvPr/>
        </p:nvSpPr>
        <p:spPr>
          <a:xfrm>
            <a:off x="1133856" y="470916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3</a:t>
            </a:r>
            <a:endParaRPr lang="en-US" sz="4000" dirty="0"/>
          </a:p>
        </p:txBody>
      </p:sp>
      <p:sp>
        <p:nvSpPr>
          <p:cNvPr id="14" name="Text 12"/>
          <p:cNvSpPr txBox="1"/>
          <p:nvPr/>
        </p:nvSpPr>
        <p:spPr>
          <a:xfrm>
            <a:off x="1865376" y="4754880"/>
            <a:ext cx="3750412"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Instructors</a:t>
            </a:r>
            <a:endParaRPr lang="en-US" sz="1800" dirty="0"/>
          </a:p>
        </p:txBody>
      </p:sp>
      <p:sp>
        <p:nvSpPr>
          <p:cNvPr id="15" name="Text 13"/>
          <p:cNvSpPr txBox="1"/>
          <p:nvPr/>
        </p:nvSpPr>
        <p:spPr>
          <a:xfrm>
            <a:off x="1865376" y="5212080"/>
            <a:ext cx="3750412" cy="502920"/>
          </a:xfrm>
          <a:prstGeom prst="rect">
            <a:avLst/>
          </a:prstGeom>
          <a:noFill/>
          <a:ln/>
        </p:spPr>
        <p:txBody>
          <a:bodyPr wrap="square" lIns="0" tIns="0" rIns="0" bIns="0" rtlCol="0" anchor="t"/>
          <a:lstStyle/>
          <a:p>
            <a:pPr indent="0" marL="0">
              <a:buNone/>
            </a:pPr>
            <a:r>
              <a:rPr lang="en-US" sz="1500" dirty="0">
                <a:solidFill>
                  <a:schemeClr val="tx2"/>
                </a:solidFill>
              </a:rPr>
              <a:t>Mathub Faculty: professors write their syllabus and run their class with a code.</a:t>
            </a:r>
            <a:endParaRPr lang="en-US" sz="1500" dirty="0"/>
          </a:p>
        </p:txBody>
      </p:sp>
      <p:sp>
        <p:nvSpPr>
          <p:cNvPr id="16" name="The app stores card"/>
          <p:cNvSpPr/>
          <p:nvPr/>
        </p:nvSpPr>
        <p:spPr>
          <a:xfrm>
            <a:off x="6255868" y="4434840"/>
            <a:ext cx="5122012" cy="1600200"/>
          </a:xfrm>
          <a:prstGeom prst="roundRect">
            <a:avLst>
              <a:gd name="adj" fmla="val 12571"/>
            </a:avLst>
          </a:prstGeom>
          <a:solidFill>
            <a:schemeClr val="bg1"/>
          </a:solidFill>
          <a:ln w="9525">
            <a:solidFill>
              <a:schemeClr val="accent5"/>
            </a:solidFill>
            <a:prstDash val="solid"/>
          </a:ln>
        </p:spPr>
      </p:sp>
      <p:sp>
        <p:nvSpPr>
          <p:cNvPr id="17" name="Text 15"/>
          <p:cNvSpPr txBox="1"/>
          <p:nvPr/>
        </p:nvSpPr>
        <p:spPr>
          <a:xfrm>
            <a:off x="6575908" y="4709160"/>
            <a:ext cx="54864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4</a:t>
            </a:r>
            <a:endParaRPr lang="en-US" sz="4000" dirty="0"/>
          </a:p>
        </p:txBody>
      </p:sp>
      <p:sp>
        <p:nvSpPr>
          <p:cNvPr id="18" name="Text 16"/>
          <p:cNvSpPr txBox="1"/>
          <p:nvPr/>
        </p:nvSpPr>
        <p:spPr>
          <a:xfrm>
            <a:off x="7307428" y="4754880"/>
            <a:ext cx="3750412" cy="38404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The app stores</a:t>
            </a:r>
            <a:endParaRPr lang="en-US" sz="1800" dirty="0"/>
          </a:p>
        </p:txBody>
      </p:sp>
      <p:sp>
        <p:nvSpPr>
          <p:cNvPr id="19" name="Text 17"/>
          <p:cNvSpPr txBox="1"/>
          <p:nvPr/>
        </p:nvSpPr>
        <p:spPr>
          <a:xfrm>
            <a:off x="7307428" y="5212080"/>
            <a:ext cx="3750412" cy="502920"/>
          </a:xfrm>
          <a:prstGeom prst="rect">
            <a:avLst/>
          </a:prstGeom>
          <a:noFill/>
          <a:ln/>
        </p:spPr>
        <p:txBody>
          <a:bodyPr wrap="square" lIns="0" tIns="0" rIns="0" bIns="0" rtlCol="0" anchor="t"/>
          <a:lstStyle/>
          <a:p>
            <a:pPr indent="0" marL="0">
              <a:buNone/>
            </a:pPr>
            <a:r>
              <a:rPr lang="en-US" sz="1500" dirty="0">
                <a:solidFill>
                  <a:schemeClr val="tx2"/>
                </a:solidFill>
              </a:rPr>
              <a:t>The iPhone and Android apps, with Bo as a tab.</a:t>
            </a:r>
            <a:endParaRPr lang="en-US" sz="1500" dirty="0"/>
          </a:p>
        </p:txBody>
      </p:sp>
      <p:sp>
        <p:nvSpPr>
          <p:cNvPr id="25" name="Slide Number Placeholder 0"/>
          <p:cNvSpPr>
            <a:spLocks noGrp="1"/>
          </p:cNvSpPr>
          <p:nvPr>
            <p:ph type="sldNum" sz="quarter" idx="4294967295"/>
          </p:nvPr>
        </p:nvSpPr>
        <p:spPr>
          <a:xfrm>
            <a:off x="10829239"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3816" y="1554480"/>
            <a:ext cx="7680960" cy="365760"/>
          </a:xfrm>
          <a:prstGeom prst="rect">
            <a:avLst/>
          </a:prstGeom>
          <a:noFill/>
          <a:ln/>
        </p:spPr>
        <p:txBody>
          <a:bodyPr wrap="square" lIns="0" tIns="0" rIns="0" bIns="0" rtlCol="0" anchor="t"/>
          <a:lstStyle/>
          <a:p>
            <a:pPr algn="l" indent="0" marL="0">
              <a:buNone/>
            </a:pPr>
            <a:r>
              <a:rPr lang="en-US" sz="1400" b="1" spc="300" kern="0" dirty="0">
                <a:solidFill>
                  <a:schemeClr val="accent6"/>
                </a:solidFill>
              </a:rPr>
              <a:t>TRY IT</a:t>
            </a:r>
            <a:endParaRPr lang="en-US" sz="1400" dirty="0"/>
          </a:p>
        </p:txBody>
      </p:sp>
      <p:sp>
        <p:nvSpPr>
          <p:cNvPr id="3" name="Text 0"/>
          <p:cNvSpPr/>
          <p:nvPr>
            <p:ph idx="101" type="title" hasCustomPrompt="1"/>
          </p:nvPr>
        </p:nvSpPr>
        <p:spPr>
          <a:xfrm>
            <a:off x="813816" y="1965960"/>
            <a:ext cx="10564063" cy="1234440"/>
          </a:xfrm>
          <a:prstGeom prst="rect">
            <a:avLst/>
          </a:prstGeom>
          <a:noFill/>
          <a:ln/>
        </p:spPr>
        <p:txBody>
          <a:bodyPr wrap="square" lIns="0" tIns="0" rIns="0" bIns="0" rtlCol="0" anchor="t"/>
          <a:lstStyle/>
          <a:p>
            <a:pPr algn="l" indent="0" marL="0">
              <a:buNone/>
            </a:pPr>
            <a:r>
              <a:rPr lang="en-US" sz="8000" b="1" dirty="0">
                <a:solidFill>
                  <a:schemeClr val="bg2"/>
                </a:solidFill>
              </a:rPr>
              <a:t>mathub.space</a:t>
            </a:r>
            <a:endParaRPr lang="en-US" sz="8000" dirty="0"/>
          </a:p>
        </p:txBody>
      </p:sp>
      <p:sp>
        <p:nvSpPr>
          <p:cNvPr id="4" name="Text 0"/>
          <p:cNvSpPr/>
          <p:nvPr>
            <p:ph idx="102" type="body" hasCustomPrompt="1"/>
          </p:nvPr>
        </p:nvSpPr>
        <p:spPr>
          <a:xfrm>
            <a:off x="813816" y="3429000"/>
            <a:ext cx="7680960" cy="1234440"/>
          </a:xfrm>
          <a:prstGeom prst="rect">
            <a:avLst/>
          </a:prstGeom>
          <a:noFill/>
          <a:ln/>
        </p:spPr>
        <p:txBody>
          <a:bodyPr wrap="square" lIns="0" tIns="0" rIns="0" bIns="0" rtlCol="0" anchor="t"/>
          <a:lstStyle/>
          <a:p>
            <a:pPr algn="l" indent="0" marL="0">
              <a:lnSpc>
                <a:spcPct val="110000"/>
              </a:lnSpc>
              <a:buNone/>
            </a:pPr>
            <a:r>
              <a:rPr lang="en-US" sz="2400" dirty="0">
                <a:solidFill>
                  <a:schemeClr val="accent2"/>
                </a:solidFill>
              </a:rPr>
              <a:t>Thank you. Questions?</a:t>
            </a:r>
            <a:endParaRPr lang="en-US" sz="2400" dirty="0"/>
          </a:p>
        </p:txBody>
      </p:sp>
      <p:sp>
        <p:nvSpPr>
          <p:cNvPr id="5" name="Text 0"/>
          <p:cNvSpPr/>
          <p:nvPr>
            <p:ph idx="103" type="body" hasCustomPrompt="1"/>
          </p:nvPr>
        </p:nvSpPr>
        <p:spPr>
          <a:xfrm>
            <a:off x="813816" y="4846320"/>
            <a:ext cx="7680960" cy="365760"/>
          </a:xfrm>
          <a:prstGeom prst="rect">
            <a:avLst/>
          </a:prstGeom>
          <a:noFill/>
          <a:ln/>
        </p:spPr>
        <p:txBody>
          <a:bodyPr wrap="square" lIns="0" tIns="0" rIns="0" bIns="0" rtlCol="0" anchor="t"/>
          <a:lstStyle/>
          <a:p>
            <a:pPr algn="l" indent="0" marL="0">
              <a:buNone/>
            </a:pPr>
            <a:r>
              <a:rPr lang="en-US" sz="1400" dirty="0">
                <a:solidFill>
                  <a:schemeClr val="accent5"/>
                </a:solidFill>
              </a:rPr>
              <a:t>Nikoloz Nonikashvili · Montana State University</a:t>
            </a:r>
            <a:endParaRPr lang="en-US" sz="1400" dirty="0"/>
          </a:p>
        </p:txBody>
      </p:sp>
      <p:pic>
        <p:nvPicPr>
          <p:cNvPr id="6" name="Bo" descr="Bo the bobcat">    </p:cNvPr>
          <p:cNvPicPr>
            <a:picLocks noChangeAspect="1"/>
          </p:cNvPicPr>
          <p:nvPr/>
        </p:nvPicPr>
        <p:blipFill>
          <a:blip r:embed="rId1"/>
          <a:stretch>
            <a:fillRect/>
          </a:stretch>
        </p:blipFill>
        <p:spPr>
          <a:xfrm>
            <a:off x="8451799" y="2377440"/>
            <a:ext cx="2926080" cy="2926080"/>
          </a:xfrm>
          <a:prstGeom prst="rect">
            <a:avLst/>
          </a:prstGeom>
        </p:spPr>
      </p:pic>
    </p:spTree>
  </p:cSld>
  <p:clrMapOvr>
    <a:masterClrMapping/>
  </p:clrMapOvr>
</p:sld>
</file>

<file path=ppt/theme/theme1.xml><?xml version="1.0" encoding="utf-8"?>
<a:theme xmlns:a="http://schemas.openxmlformats.org/drawingml/2006/main" name="Mathub">
  <a:themeElements>
    <a:clrScheme name="Mathub">
      <a:dk1>
        <a:srgbClr val="121A33"/>
      </a:dk1>
      <a:lt1>
        <a:srgbClr val="FFFFFF"/>
      </a:lt1>
      <a:dk2>
        <a:srgbClr val="4A5568"/>
      </a:dk2>
      <a:lt2>
        <a:srgbClr val="F6F7FB"/>
      </a:lt2>
      <a:accent1>
        <a:srgbClr val="1F5EFF"/>
      </a:accent1>
      <a:accent2>
        <a:srgbClr val="F2A33A"/>
      </a:accent2>
      <a:accent3>
        <a:srgbClr val="E9EEFB"/>
      </a:accent3>
      <a:accent4>
        <a:srgbClr val="1C2649"/>
      </a:accent4>
      <a:accent5>
        <a:srgbClr val="C9D3F0"/>
      </a:accent5>
      <a:accent6>
        <a:srgbClr val="7FA2FF"/>
      </a:accent6>
      <a:hlink>
        <a:srgbClr val="1F5EFF"/>
      </a:hlink>
      <a:folHlink>
        <a:srgbClr val="7FA2FF"/>
      </a:folHlink>
    </a:clrScheme>
    <a:fontScheme name="Mathu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Mathub</dc:title>
  <dc:subject>Hackathon demo, Fall 2026</dc:subject>
  <dc:creator>Nikoloz Nonikashvili</dc:creator>
  <cp:lastModifiedBy>Nikoloz Nonikashvili</cp:lastModifiedBy>
  <cp:revision>1</cp:revision>
  <dcterms:created xsi:type="dcterms:W3CDTF">2026-10-17T21:14:44Z</dcterms:created>
  <dcterms:modified xsi:type="dcterms:W3CDTF">2026-10-17T21:14:44Z</dcterms:modified>
</cp:coreProperties>
</file>